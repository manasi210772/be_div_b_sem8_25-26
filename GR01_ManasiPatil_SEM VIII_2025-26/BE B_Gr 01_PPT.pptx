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ublic Sans" charset="1" panose="00000000000000000000"/>
      <p:regular r:id="rId21"/>
    </p:embeddedFont>
    <p:embeddedFont>
      <p:font typeface="Times New Roman MT Bold" charset="1" panose="02030802070405020303"/>
      <p:regular r:id="rId22"/>
    </p:embeddedFont>
    <p:embeddedFont>
      <p:font typeface="Times New Roman MT" charset="1" panose="02030502070405020303"/>
      <p:regular r:id="rId23"/>
    </p:embeddedFont>
    <p:embeddedFont>
      <p:font typeface="Lora Bold" charset="1" panose="00000800000000000000"/>
      <p:regular r:id="rId24"/>
    </p:embeddedFont>
    <p:embeddedFont>
      <p:font typeface="Lora" charset="1" panose="000005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https://arxiv.org/search/q-fin?searchtype=author&amp;query=Mohammadjafari,+A" TargetMode="External" Type="http://schemas.openxmlformats.org/officeDocument/2006/relationships/hyperlink"/><Relationship Id="rId11" Target="https://doi.org/10.48550/arXiv.2405.08089" TargetMode="External" Type="http://schemas.openxmlformats.org/officeDocument/2006/relationships/hyperlink"/><Relationship Id="rId2" Target="https://arxiv.org/search/cs?searchtype=author&amp;query=Gu,+W" TargetMode="External" Type="http://schemas.openxmlformats.org/officeDocument/2006/relationships/hyperlink"/><Relationship Id="rId3" Target="https://arxiv.org/search/cs?searchtype=author&amp;query=Zhong,+Y" TargetMode="External" Type="http://schemas.openxmlformats.org/officeDocument/2006/relationships/hyperlink"/><Relationship Id="rId4" Target="https://arxiv.org/search/cs?searchtype=author&amp;query=Li,+S" TargetMode="External" Type="http://schemas.openxmlformats.org/officeDocument/2006/relationships/hyperlink"/><Relationship Id="rId5" Target="https://arxiv.org/search/cs?searchtype=author&amp;query=Wei,+C" TargetMode="External" Type="http://schemas.openxmlformats.org/officeDocument/2006/relationships/hyperlink"/><Relationship Id="rId6" Target="https://arxiv.org/search/cs?searchtype=author&amp;query=Dong,+L" TargetMode="External" Type="http://schemas.openxmlformats.org/officeDocument/2006/relationships/hyperlink"/><Relationship Id="rId7" Target="https://arxiv.org/search/cs?searchtype=author&amp;query=Wang,+Z" TargetMode="External" Type="http://schemas.openxmlformats.org/officeDocument/2006/relationships/hyperlink"/><Relationship Id="rId8" Target="https://arxiv.org/search/cs?searchtype=author&amp;query=Yan,+C" TargetMode="External" Type="http://schemas.openxmlformats.org/officeDocument/2006/relationships/hyperlink"/><Relationship Id="rId9" Target="https://doi.org/10.48550/arXiv.2407.16150"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9956" y="5944026"/>
            <a:ext cx="19947911" cy="7894014"/>
            <a:chOff x="0" y="0"/>
            <a:chExt cx="5039628" cy="1994339"/>
          </a:xfrm>
        </p:grpSpPr>
        <p:sp>
          <p:nvSpPr>
            <p:cNvPr name="Freeform 3" id="3"/>
            <p:cNvSpPr/>
            <p:nvPr/>
          </p:nvSpPr>
          <p:spPr>
            <a:xfrm flipH="false" flipV="false" rot="0">
              <a:off x="0" y="0"/>
              <a:ext cx="5039628" cy="1994339"/>
            </a:xfrm>
            <a:custGeom>
              <a:avLst/>
              <a:gdLst/>
              <a:ahLst/>
              <a:cxnLst/>
              <a:rect r="r" b="b" t="t" l="l"/>
              <a:pathLst>
                <a:path h="1994339" w="5039628">
                  <a:moveTo>
                    <a:pt x="0" y="0"/>
                  </a:moveTo>
                  <a:lnTo>
                    <a:pt x="5039628" y="0"/>
                  </a:lnTo>
                  <a:lnTo>
                    <a:pt x="5039628" y="1994339"/>
                  </a:lnTo>
                  <a:lnTo>
                    <a:pt x="0" y="1994339"/>
                  </a:lnTo>
                  <a:close/>
                </a:path>
              </a:pathLst>
            </a:custGeom>
            <a:solidFill>
              <a:srgbClr val="DFD3CA"/>
            </a:solidFill>
            <a:ln cap="sq">
              <a:noFill/>
              <a:prstDash val="solid"/>
              <a:miter/>
            </a:ln>
          </p:spPr>
        </p:sp>
        <p:sp>
          <p:nvSpPr>
            <p:cNvPr name="TextBox 4" id="4"/>
            <p:cNvSpPr txBox="true"/>
            <p:nvPr/>
          </p:nvSpPr>
          <p:spPr>
            <a:xfrm>
              <a:off x="0" y="-57150"/>
              <a:ext cx="5039628" cy="2051489"/>
            </a:xfrm>
            <a:prstGeom prst="rect">
              <a:avLst/>
            </a:prstGeom>
          </p:spPr>
          <p:txBody>
            <a:bodyPr anchor="ctr" rtlCol="false" tIns="0" lIns="0" bIns="0" rIns="0"/>
            <a:lstStyle/>
            <a:p>
              <a:pPr algn="ctr" marL="0" indent="0" lvl="0">
                <a:lnSpc>
                  <a:spcPts val="3804"/>
                </a:lnSpc>
                <a:spcBef>
                  <a:spcPct val="0"/>
                </a:spcBef>
              </a:pPr>
            </a:p>
          </p:txBody>
        </p:sp>
      </p:grpSp>
      <p:sp>
        <p:nvSpPr>
          <p:cNvPr name="TextBox 5" id="5"/>
          <p:cNvSpPr txBox="true"/>
          <p:nvPr/>
        </p:nvSpPr>
        <p:spPr>
          <a:xfrm rot="0">
            <a:off x="3945493" y="6272634"/>
            <a:ext cx="10397014" cy="1829271"/>
          </a:xfrm>
          <a:prstGeom prst="rect">
            <a:avLst/>
          </a:prstGeom>
        </p:spPr>
        <p:txBody>
          <a:bodyPr anchor="t" rtlCol="false" tIns="0" lIns="0" bIns="0" rIns="0">
            <a:spAutoFit/>
          </a:bodyPr>
          <a:lstStyle/>
          <a:p>
            <a:pPr algn="ctr">
              <a:lnSpc>
                <a:spcPts val="3649"/>
              </a:lnSpc>
              <a:spcBef>
                <a:spcPct val="0"/>
              </a:spcBef>
            </a:pPr>
            <a:r>
              <a:rPr lang="en-US" sz="2606" spc="260">
                <a:solidFill>
                  <a:srgbClr val="000000"/>
                </a:solidFill>
                <a:latin typeface="Public Sans"/>
                <a:ea typeface="Public Sans"/>
                <a:cs typeface="Public Sans"/>
                <a:sym typeface="Public Sans"/>
              </a:rPr>
              <a:t>DEPARTMENT OF COMPUTER SCIENCE &amp; ENGINEERING </a:t>
            </a:r>
          </a:p>
          <a:p>
            <a:pPr algn="ctr">
              <a:lnSpc>
                <a:spcPts val="3649"/>
              </a:lnSpc>
              <a:spcBef>
                <a:spcPct val="0"/>
              </a:spcBef>
            </a:pPr>
            <a:r>
              <a:rPr lang="en-US" sz="2606" spc="260">
                <a:solidFill>
                  <a:srgbClr val="000000"/>
                </a:solidFill>
                <a:latin typeface="Public Sans"/>
                <a:ea typeface="Public Sans"/>
                <a:cs typeface="Public Sans"/>
                <a:sym typeface="Public Sans"/>
              </a:rPr>
              <a:t>(ARTIFICIAL INTELLIGENCE &amp; MACHINE LEARNING)</a:t>
            </a:r>
          </a:p>
          <a:p>
            <a:pPr algn="ctr">
              <a:lnSpc>
                <a:spcPts val="3649"/>
              </a:lnSpc>
              <a:spcBef>
                <a:spcPct val="0"/>
              </a:spcBef>
            </a:pPr>
          </a:p>
          <a:p>
            <a:pPr algn="ctr">
              <a:lnSpc>
                <a:spcPts val="3649"/>
              </a:lnSpc>
              <a:spcBef>
                <a:spcPct val="0"/>
              </a:spcBef>
            </a:pPr>
          </a:p>
        </p:txBody>
      </p:sp>
      <p:sp>
        <p:nvSpPr>
          <p:cNvPr name="TextBox 6" id="6"/>
          <p:cNvSpPr txBox="true"/>
          <p:nvPr/>
        </p:nvSpPr>
        <p:spPr>
          <a:xfrm rot="0">
            <a:off x="4010501" y="7429029"/>
            <a:ext cx="10266998" cy="1829271"/>
          </a:xfrm>
          <a:prstGeom prst="rect">
            <a:avLst/>
          </a:prstGeom>
        </p:spPr>
        <p:txBody>
          <a:bodyPr anchor="t" rtlCol="false" tIns="0" lIns="0" bIns="0" rIns="0">
            <a:spAutoFit/>
          </a:bodyPr>
          <a:lstStyle/>
          <a:p>
            <a:pPr algn="ctr">
              <a:lnSpc>
                <a:spcPts val="3649"/>
              </a:lnSpc>
              <a:spcBef>
                <a:spcPct val="0"/>
              </a:spcBef>
            </a:pPr>
            <a:r>
              <a:rPr lang="en-US" sz="2606" spc="260">
                <a:solidFill>
                  <a:srgbClr val="000000"/>
                </a:solidFill>
                <a:latin typeface="Public Sans"/>
                <a:ea typeface="Public Sans"/>
                <a:cs typeface="Public Sans"/>
                <a:sym typeface="Public Sans"/>
              </a:rPr>
              <a:t>A.P. SHAH INSTITUTE OF TECHNOLOGY</a:t>
            </a:r>
          </a:p>
          <a:p>
            <a:pPr algn="ctr">
              <a:lnSpc>
                <a:spcPts val="3649"/>
              </a:lnSpc>
              <a:spcBef>
                <a:spcPct val="0"/>
              </a:spcBef>
            </a:pPr>
            <a:r>
              <a:rPr lang="en-US" sz="2606" spc="260">
                <a:solidFill>
                  <a:srgbClr val="000000"/>
                </a:solidFill>
                <a:latin typeface="Public Sans"/>
                <a:ea typeface="Public Sans"/>
                <a:cs typeface="Public Sans"/>
                <a:sym typeface="Public Sans"/>
              </a:rPr>
              <a:t>G.B. ROAD, KASARVADAVALI, THANE (WEST) – 400 615</a:t>
            </a:r>
          </a:p>
          <a:p>
            <a:pPr algn="ctr">
              <a:lnSpc>
                <a:spcPts val="3649"/>
              </a:lnSpc>
              <a:spcBef>
                <a:spcPct val="0"/>
              </a:spcBef>
            </a:pPr>
            <a:r>
              <a:rPr lang="en-US" sz="2606" spc="260">
                <a:solidFill>
                  <a:srgbClr val="000000"/>
                </a:solidFill>
                <a:latin typeface="Public Sans"/>
                <a:ea typeface="Public Sans"/>
                <a:cs typeface="Public Sans"/>
                <a:sym typeface="Public Sans"/>
              </a:rPr>
              <a:t>UNIVERSITY OF MUMBAI</a:t>
            </a:r>
          </a:p>
          <a:p>
            <a:pPr algn="ctr">
              <a:lnSpc>
                <a:spcPts val="3649"/>
              </a:lnSpc>
              <a:spcBef>
                <a:spcPct val="0"/>
              </a:spcBef>
            </a:pPr>
            <a:r>
              <a:rPr lang="en-US" sz="2606" spc="260">
                <a:solidFill>
                  <a:srgbClr val="000000"/>
                </a:solidFill>
                <a:latin typeface="Public Sans"/>
                <a:ea typeface="Public Sans"/>
                <a:cs typeface="Public Sans"/>
                <a:sym typeface="Public Sans"/>
              </a:rPr>
              <a:t>ACADEMIC YEAR 2024 - 2025 </a:t>
            </a:r>
          </a:p>
        </p:txBody>
      </p:sp>
      <p:sp>
        <p:nvSpPr>
          <p:cNvPr name="Freeform 7" id="7"/>
          <p:cNvSpPr/>
          <p:nvPr/>
        </p:nvSpPr>
        <p:spPr>
          <a:xfrm flipH="false" flipV="false" rot="0">
            <a:off x="15575938" y="253540"/>
            <a:ext cx="2448841" cy="2448841"/>
          </a:xfrm>
          <a:custGeom>
            <a:avLst/>
            <a:gdLst/>
            <a:ahLst/>
            <a:cxnLst/>
            <a:rect r="r" b="b" t="t" l="l"/>
            <a:pathLst>
              <a:path h="2448841" w="2448841">
                <a:moveTo>
                  <a:pt x="0" y="0"/>
                </a:moveTo>
                <a:lnTo>
                  <a:pt x="2448841" y="0"/>
                </a:lnTo>
                <a:lnTo>
                  <a:pt x="2448841" y="2448841"/>
                </a:lnTo>
                <a:lnTo>
                  <a:pt x="0" y="2448841"/>
                </a:lnTo>
                <a:lnTo>
                  <a:pt x="0" y="0"/>
                </a:lnTo>
                <a:close/>
              </a:path>
            </a:pathLst>
          </a:custGeom>
          <a:blipFill>
            <a:blip r:embed="rId2"/>
            <a:stretch>
              <a:fillRect l="0" t="0" r="0" b="0"/>
            </a:stretch>
          </a:blipFill>
        </p:spPr>
      </p:sp>
      <p:sp>
        <p:nvSpPr>
          <p:cNvPr name="Freeform 8" id="8"/>
          <p:cNvSpPr/>
          <p:nvPr/>
        </p:nvSpPr>
        <p:spPr>
          <a:xfrm flipH="false" flipV="false" rot="0">
            <a:off x="5965521" y="-17649"/>
            <a:ext cx="6356958" cy="6356958"/>
          </a:xfrm>
          <a:custGeom>
            <a:avLst/>
            <a:gdLst/>
            <a:ahLst/>
            <a:cxnLst/>
            <a:rect r="r" b="b" t="t" l="l"/>
            <a:pathLst>
              <a:path h="6356958" w="6356958">
                <a:moveTo>
                  <a:pt x="0" y="0"/>
                </a:moveTo>
                <a:lnTo>
                  <a:pt x="6356958" y="0"/>
                </a:lnTo>
                <a:lnTo>
                  <a:pt x="6356958" y="6356958"/>
                </a:lnTo>
                <a:lnTo>
                  <a:pt x="0" y="6356958"/>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877281" y="0"/>
            <a:ext cx="3088591" cy="10287000"/>
            <a:chOff x="0" y="0"/>
            <a:chExt cx="813456" cy="2709333"/>
          </a:xfrm>
        </p:grpSpPr>
        <p:sp>
          <p:nvSpPr>
            <p:cNvPr name="Freeform 3" id="3"/>
            <p:cNvSpPr/>
            <p:nvPr/>
          </p:nvSpPr>
          <p:spPr>
            <a:xfrm flipH="false" flipV="false" rot="0">
              <a:off x="0" y="0"/>
              <a:ext cx="813456" cy="2709333"/>
            </a:xfrm>
            <a:custGeom>
              <a:avLst/>
              <a:gdLst/>
              <a:ahLst/>
              <a:cxnLst/>
              <a:rect r="r" b="b" t="t" l="l"/>
              <a:pathLst>
                <a:path h="2709333" w="813456">
                  <a:moveTo>
                    <a:pt x="0" y="0"/>
                  </a:moveTo>
                  <a:lnTo>
                    <a:pt x="813456" y="0"/>
                  </a:lnTo>
                  <a:lnTo>
                    <a:pt x="813456" y="2709333"/>
                  </a:lnTo>
                  <a:lnTo>
                    <a:pt x="0" y="2709333"/>
                  </a:lnTo>
                  <a:close/>
                </a:path>
              </a:pathLst>
            </a:custGeom>
            <a:solidFill>
              <a:srgbClr val="DFD3CA"/>
            </a:solidFill>
            <a:ln cap="sq">
              <a:noFill/>
              <a:prstDash val="solid"/>
              <a:miter/>
            </a:ln>
          </p:spPr>
        </p:sp>
        <p:sp>
          <p:nvSpPr>
            <p:cNvPr name="TextBox 4" id="4"/>
            <p:cNvSpPr txBox="true"/>
            <p:nvPr/>
          </p:nvSpPr>
          <p:spPr>
            <a:xfrm>
              <a:off x="0" y="-28575"/>
              <a:ext cx="813456" cy="2737908"/>
            </a:xfrm>
            <a:prstGeom prst="rect">
              <a:avLst/>
            </a:prstGeom>
          </p:spPr>
          <p:txBody>
            <a:bodyPr anchor="ctr" rtlCol="false" tIns="50800" lIns="50800" bIns="50800" rIns="50800"/>
            <a:lstStyle/>
            <a:p>
              <a:pPr algn="ctr">
                <a:lnSpc>
                  <a:spcPts val="2852"/>
                </a:lnSpc>
              </a:pPr>
            </a:p>
          </p:txBody>
        </p:sp>
      </p:grpSp>
      <p:sp>
        <p:nvSpPr>
          <p:cNvPr name="Freeform 5" id="5"/>
          <p:cNvSpPr/>
          <p:nvPr/>
        </p:nvSpPr>
        <p:spPr>
          <a:xfrm flipH="false" flipV="false" rot="0">
            <a:off x="-3725255" y="7105272"/>
            <a:ext cx="7450509" cy="7450509"/>
          </a:xfrm>
          <a:custGeom>
            <a:avLst/>
            <a:gdLst/>
            <a:ahLst/>
            <a:cxnLst/>
            <a:rect r="r" b="b" t="t" l="l"/>
            <a:pathLst>
              <a:path h="7450509" w="7450509">
                <a:moveTo>
                  <a:pt x="0" y="0"/>
                </a:moveTo>
                <a:lnTo>
                  <a:pt x="7450510" y="0"/>
                </a:lnTo>
                <a:lnTo>
                  <a:pt x="7450510" y="7450510"/>
                </a:lnTo>
                <a:lnTo>
                  <a:pt x="0" y="7450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706625" y="-4304799"/>
            <a:ext cx="7450509" cy="7450509"/>
          </a:xfrm>
          <a:custGeom>
            <a:avLst/>
            <a:gdLst/>
            <a:ahLst/>
            <a:cxnLst/>
            <a:rect r="r" b="b" t="t" l="l"/>
            <a:pathLst>
              <a:path h="7450509" w="7450509">
                <a:moveTo>
                  <a:pt x="0" y="0"/>
                </a:moveTo>
                <a:lnTo>
                  <a:pt x="7450509" y="0"/>
                </a:lnTo>
                <a:lnTo>
                  <a:pt x="7450509"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3704502" y="2020025"/>
            <a:ext cx="4531107" cy="991870"/>
          </a:xfrm>
          <a:prstGeom prst="rect">
            <a:avLst/>
          </a:prstGeom>
        </p:spPr>
        <p:txBody>
          <a:bodyPr anchor="t" rtlCol="false" tIns="0" lIns="0" bIns="0" rIns="0">
            <a:spAutoFit/>
          </a:bodyPr>
          <a:lstStyle/>
          <a:p>
            <a:pPr algn="ctr">
              <a:lnSpc>
                <a:spcPts val="7279"/>
              </a:lnSpc>
            </a:pPr>
            <a:r>
              <a:rPr lang="en-US" sz="5199" b="true">
                <a:solidFill>
                  <a:srgbClr val="000000"/>
                </a:solidFill>
                <a:latin typeface="Times New Roman MT Bold"/>
                <a:ea typeface="Times New Roman MT Bold"/>
                <a:cs typeface="Times New Roman MT Bold"/>
                <a:sym typeface="Times New Roman MT Bold"/>
              </a:rPr>
              <a:t>Team Members:</a:t>
            </a:r>
          </a:p>
        </p:txBody>
      </p:sp>
      <p:sp>
        <p:nvSpPr>
          <p:cNvPr name="TextBox 8" id="8"/>
          <p:cNvSpPr txBox="true"/>
          <p:nvPr/>
        </p:nvSpPr>
        <p:spPr>
          <a:xfrm rot="0">
            <a:off x="7438070" y="2058125"/>
            <a:ext cx="8009767" cy="2366090"/>
          </a:xfrm>
          <a:prstGeom prst="rect">
            <a:avLst/>
          </a:prstGeom>
        </p:spPr>
        <p:txBody>
          <a:bodyPr anchor="t" rtlCol="false" tIns="0" lIns="0" bIns="0" rIns="0">
            <a:spAutoFit/>
          </a:bodyPr>
          <a:lstStyle/>
          <a:p>
            <a:pPr algn="r">
              <a:lnSpc>
                <a:spcPts val="6085"/>
              </a:lnSpc>
            </a:pPr>
            <a:r>
              <a:rPr lang="en-US" sz="4346">
                <a:solidFill>
                  <a:srgbClr val="000000"/>
                </a:solidFill>
                <a:latin typeface="Times New Roman MT"/>
                <a:ea typeface="Times New Roman MT"/>
                <a:cs typeface="Times New Roman MT"/>
                <a:sym typeface="Times New Roman MT"/>
              </a:rPr>
              <a:t>Manasi Patil (22106042)</a:t>
            </a:r>
          </a:p>
          <a:p>
            <a:pPr algn="r">
              <a:lnSpc>
                <a:spcPts val="6085"/>
              </a:lnSpc>
            </a:pPr>
            <a:r>
              <a:rPr lang="en-US" sz="4346">
                <a:solidFill>
                  <a:srgbClr val="000000"/>
                </a:solidFill>
                <a:latin typeface="Times New Roman MT"/>
                <a:ea typeface="Times New Roman MT"/>
                <a:cs typeface="Times New Roman MT"/>
                <a:sym typeface="Times New Roman MT"/>
              </a:rPr>
              <a:t>Samiksha Patil (22106041)</a:t>
            </a:r>
          </a:p>
          <a:p>
            <a:pPr algn="r">
              <a:lnSpc>
                <a:spcPts val="6085"/>
              </a:lnSpc>
            </a:pPr>
            <a:r>
              <a:rPr lang="en-US" sz="4346">
                <a:solidFill>
                  <a:srgbClr val="000000"/>
                </a:solidFill>
                <a:latin typeface="Times New Roman MT"/>
                <a:ea typeface="Times New Roman MT"/>
                <a:cs typeface="Times New Roman MT"/>
                <a:sym typeface="Times New Roman MT"/>
              </a:rPr>
              <a:t>Smith Patil (23206010)</a:t>
            </a:r>
          </a:p>
        </p:txBody>
      </p:sp>
      <p:sp>
        <p:nvSpPr>
          <p:cNvPr name="TextBox 9" id="9"/>
          <p:cNvSpPr txBox="true"/>
          <p:nvPr/>
        </p:nvSpPr>
        <p:spPr>
          <a:xfrm rot="0">
            <a:off x="4820741" y="6224326"/>
            <a:ext cx="8646518" cy="668109"/>
          </a:xfrm>
          <a:prstGeom prst="rect">
            <a:avLst/>
          </a:prstGeom>
        </p:spPr>
        <p:txBody>
          <a:bodyPr anchor="t" rtlCol="false" tIns="0" lIns="0" bIns="0" rIns="0">
            <a:spAutoFit/>
          </a:bodyPr>
          <a:lstStyle/>
          <a:p>
            <a:pPr algn="ctr">
              <a:lnSpc>
                <a:spcPts val="4832"/>
              </a:lnSpc>
              <a:spcBef>
                <a:spcPct val="0"/>
              </a:spcBef>
            </a:pPr>
            <a:r>
              <a:rPr lang="en-US" b="true" sz="3660" spc="318">
                <a:solidFill>
                  <a:srgbClr val="000000"/>
                </a:solidFill>
                <a:latin typeface="Times New Roman MT Bold"/>
                <a:ea typeface="Times New Roman MT Bold"/>
                <a:cs typeface="Times New Roman MT Bold"/>
                <a:sym typeface="Times New Roman MT Bold"/>
              </a:rPr>
              <a:t>Major Project Guide: Dr. Jaya Gupta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877281" y="0"/>
            <a:ext cx="3088591" cy="10287000"/>
            <a:chOff x="0" y="0"/>
            <a:chExt cx="813456" cy="2709333"/>
          </a:xfrm>
        </p:grpSpPr>
        <p:sp>
          <p:nvSpPr>
            <p:cNvPr name="Freeform 3" id="3"/>
            <p:cNvSpPr/>
            <p:nvPr/>
          </p:nvSpPr>
          <p:spPr>
            <a:xfrm flipH="false" flipV="false" rot="0">
              <a:off x="0" y="0"/>
              <a:ext cx="813456" cy="2709333"/>
            </a:xfrm>
            <a:custGeom>
              <a:avLst/>
              <a:gdLst/>
              <a:ahLst/>
              <a:cxnLst/>
              <a:rect r="r" b="b" t="t" l="l"/>
              <a:pathLst>
                <a:path h="2709333" w="813456">
                  <a:moveTo>
                    <a:pt x="0" y="0"/>
                  </a:moveTo>
                  <a:lnTo>
                    <a:pt x="813456" y="0"/>
                  </a:lnTo>
                  <a:lnTo>
                    <a:pt x="813456" y="2709333"/>
                  </a:lnTo>
                  <a:lnTo>
                    <a:pt x="0" y="2709333"/>
                  </a:lnTo>
                  <a:close/>
                </a:path>
              </a:pathLst>
            </a:custGeom>
            <a:solidFill>
              <a:srgbClr val="DFD3CA"/>
            </a:solidFill>
            <a:ln cap="sq">
              <a:noFill/>
              <a:prstDash val="solid"/>
              <a:miter/>
            </a:ln>
          </p:spPr>
        </p:sp>
        <p:sp>
          <p:nvSpPr>
            <p:cNvPr name="TextBox 4" id="4"/>
            <p:cNvSpPr txBox="true"/>
            <p:nvPr/>
          </p:nvSpPr>
          <p:spPr>
            <a:xfrm>
              <a:off x="0" y="-28575"/>
              <a:ext cx="813456" cy="2737908"/>
            </a:xfrm>
            <a:prstGeom prst="rect">
              <a:avLst/>
            </a:prstGeom>
          </p:spPr>
          <p:txBody>
            <a:bodyPr anchor="ctr" rtlCol="false" tIns="50800" lIns="50800" bIns="50800" rIns="50800"/>
            <a:lstStyle/>
            <a:p>
              <a:pPr algn="ctr">
                <a:lnSpc>
                  <a:spcPts val="2852"/>
                </a:lnSpc>
              </a:pPr>
            </a:p>
          </p:txBody>
        </p:sp>
      </p:grpSp>
      <p:sp>
        <p:nvSpPr>
          <p:cNvPr name="Freeform 5" id="5"/>
          <p:cNvSpPr/>
          <p:nvPr/>
        </p:nvSpPr>
        <p:spPr>
          <a:xfrm flipH="false" flipV="false" rot="0">
            <a:off x="-3725255" y="7105272"/>
            <a:ext cx="7450509" cy="7450509"/>
          </a:xfrm>
          <a:custGeom>
            <a:avLst/>
            <a:gdLst/>
            <a:ahLst/>
            <a:cxnLst/>
            <a:rect r="r" b="b" t="t" l="l"/>
            <a:pathLst>
              <a:path h="7450509" w="7450509">
                <a:moveTo>
                  <a:pt x="0" y="0"/>
                </a:moveTo>
                <a:lnTo>
                  <a:pt x="7450510" y="0"/>
                </a:lnTo>
                <a:lnTo>
                  <a:pt x="7450510" y="7450510"/>
                </a:lnTo>
                <a:lnTo>
                  <a:pt x="0" y="7450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706625" y="-4304799"/>
            <a:ext cx="7450509" cy="7450509"/>
          </a:xfrm>
          <a:custGeom>
            <a:avLst/>
            <a:gdLst/>
            <a:ahLst/>
            <a:cxnLst/>
            <a:rect r="r" b="b" t="t" l="l"/>
            <a:pathLst>
              <a:path h="7450509" w="7450509">
                <a:moveTo>
                  <a:pt x="0" y="0"/>
                </a:moveTo>
                <a:lnTo>
                  <a:pt x="7450509" y="0"/>
                </a:lnTo>
                <a:lnTo>
                  <a:pt x="7450509"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471082" y="2527796"/>
            <a:ext cx="5231409" cy="5466989"/>
          </a:xfrm>
          <a:custGeom>
            <a:avLst/>
            <a:gdLst/>
            <a:ahLst/>
            <a:cxnLst/>
            <a:rect r="r" b="b" t="t" l="l"/>
            <a:pathLst>
              <a:path h="5466989" w="5231409">
                <a:moveTo>
                  <a:pt x="0" y="0"/>
                </a:moveTo>
                <a:lnTo>
                  <a:pt x="5231409" y="0"/>
                </a:lnTo>
                <a:lnTo>
                  <a:pt x="5231409" y="5466988"/>
                </a:lnTo>
                <a:lnTo>
                  <a:pt x="0" y="5466988"/>
                </a:lnTo>
                <a:lnTo>
                  <a:pt x="0" y="0"/>
                </a:lnTo>
                <a:close/>
              </a:path>
            </a:pathLst>
          </a:custGeom>
          <a:blipFill>
            <a:blip r:embed="rId4"/>
            <a:stretch>
              <a:fillRect l="-2251" t="0" r="-2251" b="0"/>
            </a:stretch>
          </a:blipFill>
        </p:spPr>
      </p:sp>
      <p:sp>
        <p:nvSpPr>
          <p:cNvPr name="TextBox 8" id="8"/>
          <p:cNvSpPr txBox="true"/>
          <p:nvPr/>
        </p:nvSpPr>
        <p:spPr>
          <a:xfrm rot="0">
            <a:off x="2211310" y="942975"/>
            <a:ext cx="8730159" cy="811078"/>
          </a:xfrm>
          <a:prstGeom prst="rect">
            <a:avLst/>
          </a:prstGeom>
        </p:spPr>
        <p:txBody>
          <a:bodyPr anchor="t" rtlCol="false" tIns="0" lIns="0" bIns="0" rIns="0">
            <a:spAutoFit/>
          </a:bodyPr>
          <a:lstStyle/>
          <a:p>
            <a:pPr algn="ctr">
              <a:lnSpc>
                <a:spcPts val="6744"/>
              </a:lnSpc>
              <a:spcBef>
                <a:spcPct val="0"/>
              </a:spcBef>
            </a:pPr>
            <a:r>
              <a:rPr lang="en-US" b="true" sz="4817">
                <a:solidFill>
                  <a:srgbClr val="000000"/>
                </a:solidFill>
                <a:latin typeface="Lora Bold"/>
                <a:ea typeface="Lora Bold"/>
                <a:cs typeface="Lora Bold"/>
                <a:sym typeface="Lora Bold"/>
              </a:rPr>
              <a:t>Goal Alignment with UN SDG:</a:t>
            </a:r>
          </a:p>
        </p:txBody>
      </p:sp>
      <p:sp>
        <p:nvSpPr>
          <p:cNvPr name="TextBox 9" id="9"/>
          <p:cNvSpPr txBox="true"/>
          <p:nvPr/>
        </p:nvSpPr>
        <p:spPr>
          <a:xfrm rot="0">
            <a:off x="7959666" y="2470646"/>
            <a:ext cx="9667030" cy="5965505"/>
          </a:xfrm>
          <a:prstGeom prst="rect">
            <a:avLst/>
          </a:prstGeom>
        </p:spPr>
        <p:txBody>
          <a:bodyPr anchor="t" rtlCol="false" tIns="0" lIns="0" bIns="0" rIns="0">
            <a:spAutoFit/>
          </a:bodyPr>
          <a:lstStyle/>
          <a:p>
            <a:pPr algn="just">
              <a:lnSpc>
                <a:spcPts val="4780"/>
              </a:lnSpc>
            </a:pPr>
            <a:r>
              <a:rPr lang="en-US" sz="3414">
                <a:solidFill>
                  <a:srgbClr val="000000"/>
                </a:solidFill>
                <a:latin typeface="Lora"/>
                <a:ea typeface="Lora"/>
                <a:cs typeface="Lora"/>
                <a:sym typeface="Lora"/>
              </a:rPr>
              <a:t>•</a:t>
            </a:r>
            <a:r>
              <a:rPr lang="en-US" sz="3414" b="true">
                <a:solidFill>
                  <a:srgbClr val="000000"/>
                </a:solidFill>
                <a:latin typeface="Lora Bold"/>
                <a:ea typeface="Lora Bold"/>
                <a:cs typeface="Lora Bold"/>
                <a:sym typeface="Lora Bold"/>
              </a:rPr>
              <a:t>Improves stock forecasting</a:t>
            </a:r>
            <a:r>
              <a:rPr lang="en-US" sz="3414">
                <a:solidFill>
                  <a:srgbClr val="000000"/>
                </a:solidFill>
                <a:latin typeface="Lora"/>
                <a:ea typeface="Lora"/>
                <a:cs typeface="Lora"/>
                <a:sym typeface="Lora"/>
              </a:rPr>
              <a:t> by integrating real-time public sentiment for better decision-making.</a:t>
            </a:r>
          </a:p>
          <a:p>
            <a:pPr algn="just">
              <a:lnSpc>
                <a:spcPts val="4780"/>
              </a:lnSpc>
            </a:pPr>
            <a:r>
              <a:rPr lang="en-US" sz="3414">
                <a:solidFill>
                  <a:srgbClr val="000000"/>
                </a:solidFill>
                <a:latin typeface="Lora"/>
                <a:ea typeface="Lora"/>
                <a:cs typeface="Lora"/>
                <a:sym typeface="Lora"/>
              </a:rPr>
              <a:t>•</a:t>
            </a:r>
            <a:r>
              <a:rPr lang="en-US" sz="3414" b="true">
                <a:solidFill>
                  <a:srgbClr val="000000"/>
                </a:solidFill>
                <a:latin typeface="Lora Bold"/>
                <a:ea typeface="Lora Bold"/>
                <a:cs typeface="Lora Bold"/>
                <a:sym typeface="Lora Bold"/>
              </a:rPr>
              <a:t>Empowers retail investors</a:t>
            </a:r>
            <a:r>
              <a:rPr lang="en-US" sz="3414">
                <a:solidFill>
                  <a:srgbClr val="000000"/>
                </a:solidFill>
                <a:latin typeface="Lora"/>
                <a:ea typeface="Lora"/>
                <a:cs typeface="Lora"/>
                <a:sym typeface="Lora"/>
              </a:rPr>
              <a:t> with accessible, sentiment-driven financial insights.</a:t>
            </a:r>
          </a:p>
          <a:p>
            <a:pPr algn="just">
              <a:lnSpc>
                <a:spcPts val="4780"/>
              </a:lnSpc>
            </a:pPr>
            <a:r>
              <a:rPr lang="en-US" sz="3414">
                <a:solidFill>
                  <a:srgbClr val="000000"/>
                </a:solidFill>
                <a:latin typeface="Lora"/>
                <a:ea typeface="Lora"/>
                <a:cs typeface="Lora"/>
                <a:sym typeface="Lora"/>
              </a:rPr>
              <a:t>•</a:t>
            </a:r>
            <a:r>
              <a:rPr lang="en-US" sz="3414" b="true">
                <a:solidFill>
                  <a:srgbClr val="000000"/>
                </a:solidFill>
                <a:latin typeface="Lora Bold"/>
                <a:ea typeface="Lora Bold"/>
                <a:cs typeface="Lora Bold"/>
                <a:sym typeface="Lora Bold"/>
              </a:rPr>
              <a:t>Helps reduce market volatility</a:t>
            </a:r>
            <a:r>
              <a:rPr lang="en-US" sz="3414">
                <a:solidFill>
                  <a:srgbClr val="000000"/>
                </a:solidFill>
                <a:latin typeface="Lora"/>
                <a:ea typeface="Lora"/>
                <a:cs typeface="Lora"/>
                <a:sym typeface="Lora"/>
              </a:rPr>
              <a:t> by anticipating sentiment-induced economic shocks.</a:t>
            </a:r>
          </a:p>
          <a:p>
            <a:pPr algn="just">
              <a:lnSpc>
                <a:spcPts val="4780"/>
              </a:lnSpc>
            </a:pPr>
            <a:r>
              <a:rPr lang="en-US" sz="3414">
                <a:solidFill>
                  <a:srgbClr val="000000"/>
                </a:solidFill>
                <a:latin typeface="Lora"/>
                <a:ea typeface="Lora"/>
                <a:cs typeface="Lora"/>
                <a:sym typeface="Lora"/>
              </a:rPr>
              <a:t>•</a:t>
            </a:r>
            <a:r>
              <a:rPr lang="en-US" sz="3414" b="true">
                <a:solidFill>
                  <a:srgbClr val="000000"/>
                </a:solidFill>
                <a:latin typeface="Lora Bold"/>
                <a:ea typeface="Lora Bold"/>
                <a:cs typeface="Lora Bold"/>
                <a:sym typeface="Lora Bold"/>
              </a:rPr>
              <a:t>Promotes innovation</a:t>
            </a:r>
            <a:r>
              <a:rPr lang="en-US" sz="3414">
                <a:solidFill>
                  <a:srgbClr val="000000"/>
                </a:solidFill>
                <a:latin typeface="Lora"/>
                <a:ea typeface="Lora"/>
                <a:cs typeface="Lora"/>
                <a:sym typeface="Lora"/>
              </a:rPr>
              <a:t> through the use of AI and NLP in financial forecasting.</a:t>
            </a:r>
          </a:p>
          <a:p>
            <a:pPr algn="just">
              <a:lnSpc>
                <a:spcPts val="478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877281" y="0"/>
            <a:ext cx="3088591" cy="10287000"/>
            <a:chOff x="0" y="0"/>
            <a:chExt cx="813456" cy="2709333"/>
          </a:xfrm>
        </p:grpSpPr>
        <p:sp>
          <p:nvSpPr>
            <p:cNvPr name="Freeform 3" id="3"/>
            <p:cNvSpPr/>
            <p:nvPr/>
          </p:nvSpPr>
          <p:spPr>
            <a:xfrm flipH="false" flipV="false" rot="0">
              <a:off x="0" y="0"/>
              <a:ext cx="813456" cy="2709333"/>
            </a:xfrm>
            <a:custGeom>
              <a:avLst/>
              <a:gdLst/>
              <a:ahLst/>
              <a:cxnLst/>
              <a:rect r="r" b="b" t="t" l="l"/>
              <a:pathLst>
                <a:path h="2709333" w="813456">
                  <a:moveTo>
                    <a:pt x="0" y="0"/>
                  </a:moveTo>
                  <a:lnTo>
                    <a:pt x="813456" y="0"/>
                  </a:lnTo>
                  <a:lnTo>
                    <a:pt x="813456" y="2709333"/>
                  </a:lnTo>
                  <a:lnTo>
                    <a:pt x="0" y="2709333"/>
                  </a:lnTo>
                  <a:close/>
                </a:path>
              </a:pathLst>
            </a:custGeom>
            <a:solidFill>
              <a:srgbClr val="DFD3CA"/>
            </a:solidFill>
            <a:ln cap="sq">
              <a:noFill/>
              <a:prstDash val="solid"/>
              <a:miter/>
            </a:ln>
          </p:spPr>
        </p:sp>
        <p:sp>
          <p:nvSpPr>
            <p:cNvPr name="TextBox 4" id="4"/>
            <p:cNvSpPr txBox="true"/>
            <p:nvPr/>
          </p:nvSpPr>
          <p:spPr>
            <a:xfrm>
              <a:off x="0" y="-28575"/>
              <a:ext cx="813456" cy="2737908"/>
            </a:xfrm>
            <a:prstGeom prst="rect">
              <a:avLst/>
            </a:prstGeom>
          </p:spPr>
          <p:txBody>
            <a:bodyPr anchor="ctr" rtlCol="false" tIns="50800" lIns="50800" bIns="50800" rIns="50800"/>
            <a:lstStyle/>
            <a:p>
              <a:pPr algn="ctr" marL="0" indent="0" lvl="0">
                <a:lnSpc>
                  <a:spcPts val="2852"/>
                </a:lnSpc>
                <a:spcBef>
                  <a:spcPct val="0"/>
                </a:spcBef>
              </a:pPr>
            </a:p>
          </p:txBody>
        </p:sp>
      </p:grpSp>
      <p:sp>
        <p:nvSpPr>
          <p:cNvPr name="Freeform 5" id="5"/>
          <p:cNvSpPr/>
          <p:nvPr/>
        </p:nvSpPr>
        <p:spPr>
          <a:xfrm flipH="false" flipV="false" rot="-5400000">
            <a:off x="-2421094" y="4207228"/>
            <a:ext cx="8543440" cy="1872544"/>
          </a:xfrm>
          <a:custGeom>
            <a:avLst/>
            <a:gdLst/>
            <a:ahLst/>
            <a:cxnLst/>
            <a:rect r="r" b="b" t="t" l="l"/>
            <a:pathLst>
              <a:path h="1872544" w="8543440">
                <a:moveTo>
                  <a:pt x="0" y="0"/>
                </a:moveTo>
                <a:lnTo>
                  <a:pt x="8543440" y="0"/>
                </a:lnTo>
                <a:lnTo>
                  <a:pt x="8543440" y="1872544"/>
                </a:lnTo>
                <a:lnTo>
                  <a:pt x="0" y="1872544"/>
                </a:lnTo>
                <a:lnTo>
                  <a:pt x="0" y="0"/>
                </a:lnTo>
                <a:close/>
              </a:path>
            </a:pathLst>
          </a:custGeom>
          <a:blipFill>
            <a:blip r:embed="rId2">
              <a:extLst>
                <a:ext uri="{96DAC541-7B7A-43D3-8B79-37D633B846F1}">
                  <asvg:svgBlip xmlns:asvg="http://schemas.microsoft.com/office/drawing/2016/SVG/main" r:embed="rId3"/>
                </a:ext>
              </a:extLst>
            </a:blip>
            <a:stretch>
              <a:fillRect l="0" t="0" r="0" b="-38523"/>
            </a:stretch>
          </a:blipFill>
        </p:spPr>
      </p:sp>
      <p:sp>
        <p:nvSpPr>
          <p:cNvPr name="TextBox 6" id="6"/>
          <p:cNvSpPr txBox="true"/>
          <p:nvPr/>
        </p:nvSpPr>
        <p:spPr>
          <a:xfrm rot="0">
            <a:off x="2786898" y="1188555"/>
            <a:ext cx="14363402" cy="827588"/>
          </a:xfrm>
          <a:prstGeom prst="rect">
            <a:avLst/>
          </a:prstGeom>
        </p:spPr>
        <p:txBody>
          <a:bodyPr anchor="t" rtlCol="false" tIns="0" lIns="0" bIns="0" rIns="0">
            <a:spAutoFit/>
          </a:bodyPr>
          <a:lstStyle/>
          <a:p>
            <a:pPr algn="ctr">
              <a:lnSpc>
                <a:spcPts val="6884"/>
              </a:lnSpc>
              <a:spcBef>
                <a:spcPct val="0"/>
              </a:spcBef>
            </a:pPr>
            <a:r>
              <a:rPr lang="en-US" b="true" sz="4917">
                <a:solidFill>
                  <a:srgbClr val="000000"/>
                </a:solidFill>
                <a:latin typeface="Lora Bold"/>
                <a:ea typeface="Lora Bold"/>
                <a:cs typeface="Lora Bold"/>
                <a:sym typeface="Lora Bold"/>
              </a:rPr>
              <a:t>Sentiment - Augmented Stock Price Forecasting</a:t>
            </a:r>
          </a:p>
        </p:txBody>
      </p:sp>
      <p:sp>
        <p:nvSpPr>
          <p:cNvPr name="TextBox 7" id="7"/>
          <p:cNvSpPr txBox="true"/>
          <p:nvPr/>
        </p:nvSpPr>
        <p:spPr>
          <a:xfrm rot="0">
            <a:off x="1930254" y="2704402"/>
            <a:ext cx="16076690" cy="6710818"/>
          </a:xfrm>
          <a:prstGeom prst="rect">
            <a:avLst/>
          </a:prstGeom>
        </p:spPr>
        <p:txBody>
          <a:bodyPr anchor="t" rtlCol="false" tIns="0" lIns="0" bIns="0" rIns="0">
            <a:spAutoFit/>
          </a:bodyPr>
          <a:lstStyle/>
          <a:p>
            <a:pPr algn="just" marL="759499" indent="-379750" lvl="1">
              <a:lnSpc>
                <a:spcPts val="5980"/>
              </a:lnSpc>
              <a:buFont typeface="Arial"/>
              <a:buChar char="•"/>
            </a:pPr>
            <a:r>
              <a:rPr lang="en-US" sz="3517">
                <a:solidFill>
                  <a:srgbClr val="000000"/>
                </a:solidFill>
                <a:latin typeface="Lora"/>
                <a:ea typeface="Lora"/>
                <a:cs typeface="Lora"/>
                <a:sym typeface="Lora"/>
              </a:rPr>
              <a:t>Introducing an intelligent stock recommendation system designed for investors.</a:t>
            </a:r>
          </a:p>
          <a:p>
            <a:pPr algn="just" marL="759499" indent="-379750" lvl="1">
              <a:lnSpc>
                <a:spcPts val="5980"/>
              </a:lnSpc>
              <a:buFont typeface="Arial"/>
              <a:buChar char="•"/>
            </a:pPr>
            <a:r>
              <a:rPr lang="en-US" sz="3517">
                <a:solidFill>
                  <a:srgbClr val="000000"/>
                </a:solidFill>
                <a:latin typeface="Lora"/>
                <a:ea typeface="Lora"/>
                <a:cs typeface="Lora"/>
                <a:sym typeface="Lora"/>
              </a:rPr>
              <a:t>Provides personalized recommendations (company &amp; risk level) based on a user's age and investment amount.</a:t>
            </a:r>
          </a:p>
          <a:p>
            <a:pPr algn="just" marL="759499" indent="-379750" lvl="1">
              <a:lnSpc>
                <a:spcPts val="5980"/>
              </a:lnSpc>
              <a:buFont typeface="Arial"/>
              <a:buChar char="•"/>
            </a:pPr>
            <a:r>
              <a:rPr lang="en-US" sz="3517">
                <a:solidFill>
                  <a:srgbClr val="000000"/>
                </a:solidFill>
                <a:latin typeface="Lora"/>
                <a:ea typeface="Lora"/>
                <a:cs typeface="Lora"/>
                <a:sym typeface="Lora"/>
              </a:rPr>
              <a:t>Simplifies complex investment decisions by automating sophisticated market analysis.</a:t>
            </a:r>
          </a:p>
          <a:p>
            <a:pPr algn="just" marL="759499" indent="-379750" lvl="1">
              <a:lnSpc>
                <a:spcPts val="5980"/>
              </a:lnSpc>
              <a:buFont typeface="Arial"/>
              <a:buChar char="•"/>
            </a:pPr>
            <a:r>
              <a:rPr lang="en-US" sz="3517">
                <a:solidFill>
                  <a:srgbClr val="000000"/>
                </a:solidFill>
                <a:latin typeface="Lora"/>
                <a:ea typeface="Lora"/>
                <a:cs typeface="Lora"/>
                <a:sym typeface="Lora"/>
              </a:rPr>
              <a:t>Offers a holistic view of each stock, combining quantitative price forecasts with qualitative news insights.</a:t>
            </a:r>
          </a:p>
          <a:p>
            <a:pPr algn="just">
              <a:lnSpc>
                <a:spcPts val="5980"/>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5400000">
            <a:off x="4381546" y="-3065405"/>
            <a:ext cx="1523909" cy="10287000"/>
            <a:chOff x="0" y="0"/>
            <a:chExt cx="401359" cy="2709333"/>
          </a:xfrm>
        </p:grpSpPr>
        <p:sp>
          <p:nvSpPr>
            <p:cNvPr name="Freeform 3" id="3"/>
            <p:cNvSpPr/>
            <p:nvPr/>
          </p:nvSpPr>
          <p:spPr>
            <a:xfrm flipH="false" flipV="false" rot="0">
              <a:off x="0" y="0"/>
              <a:ext cx="401359" cy="2709333"/>
            </a:xfrm>
            <a:custGeom>
              <a:avLst/>
              <a:gdLst/>
              <a:ahLst/>
              <a:cxnLst/>
              <a:rect r="r" b="b" t="t" l="l"/>
              <a:pathLst>
                <a:path h="2709333" w="401359">
                  <a:moveTo>
                    <a:pt x="0" y="0"/>
                  </a:moveTo>
                  <a:lnTo>
                    <a:pt x="401359" y="0"/>
                  </a:lnTo>
                  <a:lnTo>
                    <a:pt x="401359" y="2709333"/>
                  </a:lnTo>
                  <a:lnTo>
                    <a:pt x="0" y="2709333"/>
                  </a:lnTo>
                  <a:close/>
                </a:path>
              </a:pathLst>
            </a:custGeom>
            <a:solidFill>
              <a:srgbClr val="DFD3CA"/>
            </a:solidFill>
          </p:spPr>
        </p:sp>
        <p:sp>
          <p:nvSpPr>
            <p:cNvPr name="TextBox 4" id="4"/>
            <p:cNvSpPr txBox="true"/>
            <p:nvPr/>
          </p:nvSpPr>
          <p:spPr>
            <a:xfrm>
              <a:off x="0" y="-28575"/>
              <a:ext cx="401359" cy="2737908"/>
            </a:xfrm>
            <a:prstGeom prst="rect">
              <a:avLst/>
            </a:prstGeom>
          </p:spPr>
          <p:txBody>
            <a:bodyPr anchor="ctr" rtlCol="false" tIns="50800" lIns="50800" bIns="50800" rIns="50800"/>
            <a:lstStyle/>
            <a:p>
              <a:pPr algn="ctr">
                <a:lnSpc>
                  <a:spcPts val="2852"/>
                </a:lnSpc>
              </a:pPr>
            </a:p>
          </p:txBody>
        </p:sp>
      </p:grpSp>
      <p:grpSp>
        <p:nvGrpSpPr>
          <p:cNvPr name="Group 5" id="5"/>
          <p:cNvGrpSpPr/>
          <p:nvPr/>
        </p:nvGrpSpPr>
        <p:grpSpPr>
          <a:xfrm rot="5400000">
            <a:off x="8063576" y="-2144024"/>
            <a:ext cx="4036763" cy="16412084"/>
            <a:chOff x="0" y="0"/>
            <a:chExt cx="1063181" cy="4322524"/>
          </a:xfrm>
        </p:grpSpPr>
        <p:sp>
          <p:nvSpPr>
            <p:cNvPr name="Freeform 6" id="6"/>
            <p:cNvSpPr/>
            <p:nvPr/>
          </p:nvSpPr>
          <p:spPr>
            <a:xfrm flipH="false" flipV="false" rot="0">
              <a:off x="0" y="0"/>
              <a:ext cx="1063181" cy="4322524"/>
            </a:xfrm>
            <a:custGeom>
              <a:avLst/>
              <a:gdLst/>
              <a:ahLst/>
              <a:cxnLst/>
              <a:rect r="r" b="b" t="t" l="l"/>
              <a:pathLst>
                <a:path h="4322524" w="1063181">
                  <a:moveTo>
                    <a:pt x="0" y="0"/>
                  </a:moveTo>
                  <a:lnTo>
                    <a:pt x="1063181" y="0"/>
                  </a:lnTo>
                  <a:lnTo>
                    <a:pt x="1063181" y="4322524"/>
                  </a:lnTo>
                  <a:lnTo>
                    <a:pt x="0" y="4322524"/>
                  </a:lnTo>
                  <a:close/>
                </a:path>
              </a:pathLst>
            </a:custGeom>
            <a:solidFill>
              <a:srgbClr val="DFD3CA"/>
            </a:solidFill>
          </p:spPr>
        </p:sp>
        <p:sp>
          <p:nvSpPr>
            <p:cNvPr name="TextBox 7" id="7"/>
            <p:cNvSpPr txBox="true"/>
            <p:nvPr/>
          </p:nvSpPr>
          <p:spPr>
            <a:xfrm>
              <a:off x="0" y="-28575"/>
              <a:ext cx="1063181" cy="4351099"/>
            </a:xfrm>
            <a:prstGeom prst="rect">
              <a:avLst/>
            </a:prstGeom>
          </p:spPr>
          <p:txBody>
            <a:bodyPr anchor="ctr" rtlCol="false" tIns="50800" lIns="50800" bIns="50800" rIns="50800"/>
            <a:lstStyle/>
            <a:p>
              <a:pPr algn="ctr">
                <a:lnSpc>
                  <a:spcPts val="2852"/>
                </a:lnSpc>
              </a:pPr>
            </a:p>
          </p:txBody>
        </p:sp>
      </p:grpSp>
      <p:sp>
        <p:nvSpPr>
          <p:cNvPr name="TextBox 8" id="8"/>
          <p:cNvSpPr txBox="true"/>
          <p:nvPr/>
        </p:nvSpPr>
        <p:spPr>
          <a:xfrm rot="0">
            <a:off x="0" y="1629694"/>
            <a:ext cx="10287000" cy="811078"/>
          </a:xfrm>
          <a:prstGeom prst="rect">
            <a:avLst/>
          </a:prstGeom>
        </p:spPr>
        <p:txBody>
          <a:bodyPr anchor="t" rtlCol="false" tIns="0" lIns="0" bIns="0" rIns="0">
            <a:spAutoFit/>
          </a:bodyPr>
          <a:lstStyle/>
          <a:p>
            <a:pPr algn="ctr">
              <a:lnSpc>
                <a:spcPts val="6744"/>
              </a:lnSpc>
              <a:spcBef>
                <a:spcPct val="0"/>
              </a:spcBef>
            </a:pPr>
            <a:r>
              <a:rPr lang="en-US" b="true" sz="4817">
                <a:solidFill>
                  <a:srgbClr val="000000"/>
                </a:solidFill>
                <a:latin typeface="Lora Bold"/>
                <a:ea typeface="Lora Bold"/>
                <a:cs typeface="Lora Bold"/>
                <a:sym typeface="Lora Bold"/>
              </a:rPr>
              <a:t>Problem Statement:</a:t>
            </a:r>
          </a:p>
        </p:txBody>
      </p:sp>
      <p:sp>
        <p:nvSpPr>
          <p:cNvPr name="TextBox 9" id="9"/>
          <p:cNvSpPr txBox="true"/>
          <p:nvPr/>
        </p:nvSpPr>
        <p:spPr>
          <a:xfrm rot="0">
            <a:off x="2187842" y="4162901"/>
            <a:ext cx="15788233" cy="4442007"/>
          </a:xfrm>
          <a:prstGeom prst="rect">
            <a:avLst/>
          </a:prstGeom>
        </p:spPr>
        <p:txBody>
          <a:bodyPr anchor="t" rtlCol="false" tIns="0" lIns="0" bIns="0" rIns="0">
            <a:spAutoFit/>
          </a:bodyPr>
          <a:lstStyle/>
          <a:p>
            <a:pPr algn="just">
              <a:lnSpc>
                <a:spcPts val="5064"/>
              </a:lnSpc>
            </a:pPr>
            <a:r>
              <a:rPr lang="en-US" sz="3617">
                <a:solidFill>
                  <a:srgbClr val="000000"/>
                </a:solidFill>
                <a:latin typeface="Lora"/>
                <a:ea typeface="Lora"/>
                <a:cs typeface="Lora"/>
                <a:sym typeface="Lora"/>
              </a:rPr>
              <a:t>Beginners often struggle with market complexity, lacking tools to forecast prices, gauge news sentiment, or align investments with their personal risk tolerance. Our system solves this by automating the analysis, delivering personalized, risk-assessed recommendations by hybridizing LSTM-GA price predictions with real-time FinBERT sentiment scores.</a:t>
            </a:r>
          </a:p>
          <a:p>
            <a:pPr algn="just">
              <a:lnSpc>
                <a:spcPts val="5064"/>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877281" y="0"/>
            <a:ext cx="3088591" cy="10287000"/>
            <a:chOff x="0" y="0"/>
            <a:chExt cx="813456" cy="2709333"/>
          </a:xfrm>
        </p:grpSpPr>
        <p:sp>
          <p:nvSpPr>
            <p:cNvPr name="Freeform 3" id="3"/>
            <p:cNvSpPr/>
            <p:nvPr/>
          </p:nvSpPr>
          <p:spPr>
            <a:xfrm flipH="false" flipV="false" rot="0">
              <a:off x="0" y="0"/>
              <a:ext cx="813456" cy="2709333"/>
            </a:xfrm>
            <a:custGeom>
              <a:avLst/>
              <a:gdLst/>
              <a:ahLst/>
              <a:cxnLst/>
              <a:rect r="r" b="b" t="t" l="l"/>
              <a:pathLst>
                <a:path h="2709333" w="813456">
                  <a:moveTo>
                    <a:pt x="0" y="0"/>
                  </a:moveTo>
                  <a:lnTo>
                    <a:pt x="813456" y="0"/>
                  </a:lnTo>
                  <a:lnTo>
                    <a:pt x="813456" y="2709333"/>
                  </a:lnTo>
                  <a:lnTo>
                    <a:pt x="0" y="2709333"/>
                  </a:lnTo>
                  <a:close/>
                </a:path>
              </a:pathLst>
            </a:custGeom>
            <a:solidFill>
              <a:srgbClr val="DFD3CA"/>
            </a:solidFill>
            <a:ln cap="sq">
              <a:noFill/>
              <a:prstDash val="solid"/>
              <a:miter/>
            </a:ln>
          </p:spPr>
        </p:sp>
        <p:sp>
          <p:nvSpPr>
            <p:cNvPr name="TextBox 4" id="4"/>
            <p:cNvSpPr txBox="true"/>
            <p:nvPr/>
          </p:nvSpPr>
          <p:spPr>
            <a:xfrm>
              <a:off x="0" y="-28575"/>
              <a:ext cx="813456" cy="2737908"/>
            </a:xfrm>
            <a:prstGeom prst="rect">
              <a:avLst/>
            </a:prstGeom>
          </p:spPr>
          <p:txBody>
            <a:bodyPr anchor="ctr" rtlCol="false" tIns="50800" lIns="50800" bIns="50800" rIns="50800"/>
            <a:lstStyle/>
            <a:p>
              <a:pPr algn="ctr" marL="0" indent="0" lvl="0">
                <a:lnSpc>
                  <a:spcPts val="2852"/>
                </a:lnSpc>
                <a:spcBef>
                  <a:spcPct val="0"/>
                </a:spcBef>
              </a:pPr>
            </a:p>
          </p:txBody>
        </p:sp>
      </p:grpSp>
      <p:sp>
        <p:nvSpPr>
          <p:cNvPr name="Freeform 5" id="5"/>
          <p:cNvSpPr/>
          <p:nvPr/>
        </p:nvSpPr>
        <p:spPr>
          <a:xfrm flipH="false" flipV="false" rot="-5400000">
            <a:off x="-2421094" y="4207228"/>
            <a:ext cx="8543440" cy="1872544"/>
          </a:xfrm>
          <a:custGeom>
            <a:avLst/>
            <a:gdLst/>
            <a:ahLst/>
            <a:cxnLst/>
            <a:rect r="r" b="b" t="t" l="l"/>
            <a:pathLst>
              <a:path h="1872544" w="8543440">
                <a:moveTo>
                  <a:pt x="0" y="0"/>
                </a:moveTo>
                <a:lnTo>
                  <a:pt x="8543440" y="0"/>
                </a:lnTo>
                <a:lnTo>
                  <a:pt x="8543440" y="1872544"/>
                </a:lnTo>
                <a:lnTo>
                  <a:pt x="0" y="1872544"/>
                </a:lnTo>
                <a:lnTo>
                  <a:pt x="0" y="0"/>
                </a:lnTo>
                <a:close/>
              </a:path>
            </a:pathLst>
          </a:custGeom>
          <a:blipFill>
            <a:blip r:embed="rId2">
              <a:extLst>
                <a:ext uri="{96DAC541-7B7A-43D3-8B79-37D633B846F1}">
                  <asvg:svgBlip xmlns:asvg="http://schemas.microsoft.com/office/drawing/2016/SVG/main" r:embed="rId3"/>
                </a:ext>
              </a:extLst>
            </a:blip>
            <a:stretch>
              <a:fillRect l="0" t="0" r="0" b="-38523"/>
            </a:stretch>
          </a:blipFill>
        </p:spPr>
      </p:sp>
      <p:sp>
        <p:nvSpPr>
          <p:cNvPr name="TextBox 6" id="6"/>
          <p:cNvSpPr txBox="true"/>
          <p:nvPr/>
        </p:nvSpPr>
        <p:spPr>
          <a:xfrm rot="0">
            <a:off x="2211310" y="1660747"/>
            <a:ext cx="3191967" cy="811078"/>
          </a:xfrm>
          <a:prstGeom prst="rect">
            <a:avLst/>
          </a:prstGeom>
        </p:spPr>
        <p:txBody>
          <a:bodyPr anchor="t" rtlCol="false" tIns="0" lIns="0" bIns="0" rIns="0">
            <a:spAutoFit/>
          </a:bodyPr>
          <a:lstStyle/>
          <a:p>
            <a:pPr algn="ctr">
              <a:lnSpc>
                <a:spcPts val="6744"/>
              </a:lnSpc>
              <a:spcBef>
                <a:spcPct val="0"/>
              </a:spcBef>
            </a:pPr>
            <a:r>
              <a:rPr lang="en-US" b="true" sz="4817">
                <a:solidFill>
                  <a:srgbClr val="000000"/>
                </a:solidFill>
                <a:latin typeface="Lora Bold"/>
                <a:ea typeface="Lora Bold"/>
                <a:cs typeface="Lora Bold"/>
                <a:sym typeface="Lora Bold"/>
              </a:rPr>
              <a:t>Objectives:</a:t>
            </a:r>
          </a:p>
        </p:txBody>
      </p:sp>
      <p:sp>
        <p:nvSpPr>
          <p:cNvPr name="TextBox 7" id="7"/>
          <p:cNvSpPr txBox="true"/>
          <p:nvPr/>
        </p:nvSpPr>
        <p:spPr>
          <a:xfrm rot="0">
            <a:off x="2211310" y="3231666"/>
            <a:ext cx="15814934" cy="5540375"/>
          </a:xfrm>
          <a:prstGeom prst="rect">
            <a:avLst/>
          </a:prstGeom>
        </p:spPr>
        <p:txBody>
          <a:bodyPr anchor="t" rtlCol="false" tIns="0" lIns="0" bIns="0" rIns="0">
            <a:spAutoFit/>
          </a:bodyPr>
          <a:lstStyle/>
          <a:p>
            <a:pPr algn="just" marL="755649" indent="-377824" lvl="1">
              <a:lnSpc>
                <a:spcPts val="4899"/>
              </a:lnSpc>
              <a:buFont typeface="Arial"/>
              <a:buChar char="•"/>
            </a:pPr>
            <a:r>
              <a:rPr lang="en-US" sz="3499">
                <a:solidFill>
                  <a:srgbClr val="000000"/>
                </a:solidFill>
                <a:latin typeface="Lora"/>
                <a:ea typeface="Lora"/>
                <a:cs typeface="Lora"/>
                <a:sym typeface="Lora"/>
              </a:rPr>
              <a:t>To provide personalized, risk-based stock recommendations.</a:t>
            </a:r>
          </a:p>
          <a:p>
            <a:pPr algn="just">
              <a:lnSpc>
                <a:spcPts val="4899"/>
              </a:lnSpc>
            </a:pPr>
          </a:p>
          <a:p>
            <a:pPr algn="just" marL="755649" indent="-377824" lvl="1">
              <a:lnSpc>
                <a:spcPts val="4899"/>
              </a:lnSpc>
              <a:buFont typeface="Arial"/>
              <a:buChar char="•"/>
            </a:pPr>
            <a:r>
              <a:rPr lang="en-US" sz="3499">
                <a:solidFill>
                  <a:srgbClr val="000000"/>
                </a:solidFill>
                <a:latin typeface="Lora"/>
                <a:ea typeface="Lora"/>
                <a:cs typeface="Lora"/>
                <a:sym typeface="Lora"/>
              </a:rPr>
              <a:t>To accurately forecast stock prices using a hybrid LSTM-GA model.</a:t>
            </a:r>
          </a:p>
          <a:p>
            <a:pPr algn="just">
              <a:lnSpc>
                <a:spcPts val="4899"/>
              </a:lnSpc>
            </a:pPr>
          </a:p>
          <a:p>
            <a:pPr algn="just" marL="755649" indent="-377824" lvl="1">
              <a:lnSpc>
                <a:spcPts val="4899"/>
              </a:lnSpc>
              <a:buFont typeface="Arial"/>
              <a:buChar char="•"/>
            </a:pPr>
            <a:r>
              <a:rPr lang="en-US" sz="3499">
                <a:solidFill>
                  <a:srgbClr val="000000"/>
                </a:solidFill>
                <a:latin typeface="Lora"/>
                <a:ea typeface="Lora"/>
                <a:cs typeface="Lora"/>
                <a:sym typeface="Lora"/>
              </a:rPr>
              <a:t>To analyze real-time financial news sentiment using a custom FinBERT model.</a:t>
            </a:r>
          </a:p>
          <a:p>
            <a:pPr algn="just">
              <a:lnSpc>
                <a:spcPts val="4899"/>
              </a:lnSpc>
            </a:pPr>
          </a:p>
          <a:p>
            <a:pPr algn="just" marL="755649" indent="-377824" lvl="1">
              <a:lnSpc>
                <a:spcPts val="4899"/>
              </a:lnSpc>
              <a:buFont typeface="Arial"/>
              <a:buChar char="•"/>
            </a:pPr>
            <a:r>
              <a:rPr lang="en-US" sz="3499">
                <a:solidFill>
                  <a:srgbClr val="000000"/>
                </a:solidFill>
                <a:latin typeface="Lora"/>
                <a:ea typeface="Lora"/>
                <a:cs typeface="Lora"/>
                <a:sym typeface="Lora"/>
              </a:rPr>
              <a:t>To integrate all features into a single, cohesive recommendation system.</a:t>
            </a:r>
          </a:p>
          <a:p>
            <a:pPr algn="just">
              <a:lnSpc>
                <a:spcPts val="48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829956" y="1572706"/>
            <a:ext cx="19947911" cy="12265335"/>
            <a:chOff x="0" y="0"/>
            <a:chExt cx="5039628" cy="3098706"/>
          </a:xfrm>
        </p:grpSpPr>
        <p:sp>
          <p:nvSpPr>
            <p:cNvPr name="Freeform 3" id="3"/>
            <p:cNvSpPr/>
            <p:nvPr/>
          </p:nvSpPr>
          <p:spPr>
            <a:xfrm flipH="false" flipV="false" rot="0">
              <a:off x="0" y="0"/>
              <a:ext cx="5039628" cy="3098706"/>
            </a:xfrm>
            <a:custGeom>
              <a:avLst/>
              <a:gdLst/>
              <a:ahLst/>
              <a:cxnLst/>
              <a:rect r="r" b="b" t="t" l="l"/>
              <a:pathLst>
                <a:path h="3098706" w="5039628">
                  <a:moveTo>
                    <a:pt x="0" y="0"/>
                  </a:moveTo>
                  <a:lnTo>
                    <a:pt x="5039628" y="0"/>
                  </a:lnTo>
                  <a:lnTo>
                    <a:pt x="5039628" y="3098706"/>
                  </a:lnTo>
                  <a:lnTo>
                    <a:pt x="0" y="3098706"/>
                  </a:lnTo>
                  <a:close/>
                </a:path>
              </a:pathLst>
            </a:custGeom>
            <a:solidFill>
              <a:srgbClr val="DFD3CA"/>
            </a:solidFill>
            <a:ln cap="sq">
              <a:noFill/>
              <a:prstDash val="solid"/>
              <a:miter/>
            </a:ln>
          </p:spPr>
        </p:sp>
        <p:sp>
          <p:nvSpPr>
            <p:cNvPr name="TextBox 4" id="4"/>
            <p:cNvSpPr txBox="true"/>
            <p:nvPr/>
          </p:nvSpPr>
          <p:spPr>
            <a:xfrm>
              <a:off x="0" y="-57150"/>
              <a:ext cx="5039628" cy="3155856"/>
            </a:xfrm>
            <a:prstGeom prst="rect">
              <a:avLst/>
            </a:prstGeom>
          </p:spPr>
          <p:txBody>
            <a:bodyPr anchor="ctr" rtlCol="false" tIns="0" lIns="0" bIns="0" rIns="0"/>
            <a:lstStyle/>
            <a:p>
              <a:pPr algn="ctr" marL="0" indent="0" lvl="0">
                <a:lnSpc>
                  <a:spcPts val="3804"/>
                </a:lnSpc>
                <a:spcBef>
                  <a:spcPct val="0"/>
                </a:spcBef>
              </a:pPr>
            </a:p>
          </p:txBody>
        </p:sp>
      </p:grpSp>
      <p:graphicFrame>
        <p:nvGraphicFramePr>
          <p:cNvPr name="Table 5" id="5"/>
          <p:cNvGraphicFramePr>
            <a:graphicFrameLocks noGrp="true"/>
          </p:cNvGraphicFramePr>
          <p:nvPr/>
        </p:nvGraphicFramePr>
        <p:xfrm>
          <a:off x="1028700" y="2117604"/>
          <a:ext cx="16230600" cy="7476386"/>
        </p:xfrm>
        <a:graphic>
          <a:graphicData uri="http://schemas.openxmlformats.org/drawingml/2006/table">
            <a:tbl>
              <a:tblPr/>
              <a:tblGrid>
                <a:gridCol w="1214927"/>
                <a:gridCol w="3675459"/>
                <a:gridCol w="3639491"/>
                <a:gridCol w="3820189"/>
                <a:gridCol w="3880535"/>
              </a:tblGrid>
              <a:tr h="1366421">
                <a:tc>
                  <a:txBody>
                    <a:bodyPr anchor="t" rtlCol="false"/>
                    <a:lstStyle/>
                    <a:p>
                      <a:pPr algn="ctr">
                        <a:lnSpc>
                          <a:spcPts val="2799"/>
                        </a:lnSpc>
                        <a:defRPr/>
                      </a:pPr>
                      <a:r>
                        <a:rPr lang="en-US" sz="1999" b="true">
                          <a:solidFill>
                            <a:srgbClr val="000000"/>
                          </a:solidFill>
                          <a:latin typeface="Lora Bold"/>
                          <a:ea typeface="Lora Bold"/>
                          <a:cs typeface="Lora Bold"/>
                          <a:sym typeface="Lora Bold"/>
                        </a:rPr>
                        <a:t>Sr. 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3B6AC"/>
                    </a:solidFill>
                  </a:tcPr>
                </a:tc>
                <a:tc>
                  <a:txBody>
                    <a:bodyPr anchor="t" rtlCol="false"/>
                    <a:lstStyle/>
                    <a:p>
                      <a:pPr algn="ctr">
                        <a:lnSpc>
                          <a:spcPts val="2799"/>
                        </a:lnSpc>
                        <a:defRPr/>
                      </a:pPr>
                      <a:r>
                        <a:rPr lang="en-US" sz="1999" b="true">
                          <a:solidFill>
                            <a:srgbClr val="000000"/>
                          </a:solidFill>
                          <a:latin typeface="Lora Bold"/>
                          <a:ea typeface="Lora Bold"/>
                          <a:cs typeface="Lora Bold"/>
                          <a:sym typeface="Lora Bold"/>
                        </a:rPr>
                        <a:t>Authors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3B6AC"/>
                    </a:solidFill>
                  </a:tcPr>
                </a:tc>
                <a:tc>
                  <a:txBody>
                    <a:bodyPr anchor="t" rtlCol="false"/>
                    <a:lstStyle/>
                    <a:p>
                      <a:pPr algn="ctr">
                        <a:lnSpc>
                          <a:spcPts val="2799"/>
                        </a:lnSpc>
                        <a:defRPr/>
                      </a:pPr>
                      <a:r>
                        <a:rPr lang="en-US" b="true" sz="1999">
                          <a:solidFill>
                            <a:srgbClr val="000000"/>
                          </a:solidFill>
                          <a:latin typeface="Lora Bold"/>
                          <a:ea typeface="Lora Bold"/>
                          <a:cs typeface="Lora Bold"/>
                          <a:sym typeface="Lora Bold"/>
                        </a:rPr>
                        <a:t>Title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3B6AC"/>
                    </a:solidFill>
                  </a:tcPr>
                </a:tc>
                <a:tc>
                  <a:txBody>
                    <a:bodyPr anchor="t" rtlCol="false"/>
                    <a:lstStyle/>
                    <a:p>
                      <a:pPr algn="ctr">
                        <a:lnSpc>
                          <a:spcPts val="2799"/>
                        </a:lnSpc>
                        <a:defRPr/>
                      </a:pPr>
                      <a:r>
                        <a:rPr lang="en-US" b="true" sz="1999">
                          <a:solidFill>
                            <a:srgbClr val="000000"/>
                          </a:solidFill>
                          <a:latin typeface="Lora Bold"/>
                          <a:ea typeface="Lora Bold"/>
                          <a:cs typeface="Lora Bold"/>
                          <a:sym typeface="Lora Bold"/>
                        </a:rPr>
                        <a:t>Summary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3B6AC"/>
                    </a:solidFill>
                  </a:tcPr>
                </a:tc>
                <a:tc>
                  <a:txBody>
                    <a:bodyPr anchor="t" rtlCol="false"/>
                    <a:lstStyle/>
                    <a:p>
                      <a:pPr algn="ctr">
                        <a:lnSpc>
                          <a:spcPts val="2799"/>
                        </a:lnSpc>
                        <a:defRPr/>
                      </a:pPr>
                      <a:r>
                        <a:rPr lang="en-US" b="true" sz="1999">
                          <a:solidFill>
                            <a:srgbClr val="000000"/>
                          </a:solidFill>
                          <a:latin typeface="Lora Bold"/>
                          <a:ea typeface="Lora Bold"/>
                          <a:cs typeface="Lora Bold"/>
                          <a:sym typeface="Lora Bold"/>
                        </a:rPr>
                        <a:t>Limitation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3B6AC"/>
                    </a:solidFill>
                  </a:tcPr>
                </a:tc>
              </a:tr>
              <a:tr h="2977448">
                <a:tc>
                  <a:txBody>
                    <a:bodyPr anchor="t" rtlCol="false"/>
                    <a:lstStyle/>
                    <a:p>
                      <a:pPr algn="ctr">
                        <a:lnSpc>
                          <a:spcPts val="2520"/>
                        </a:lnSpc>
                        <a:defRPr/>
                      </a:pPr>
                      <a:r>
                        <a:rPr lang="en-US" sz="1800">
                          <a:solidFill>
                            <a:srgbClr val="000000"/>
                          </a:solidFill>
                          <a:latin typeface="Lora"/>
                          <a:ea typeface="Lora"/>
                          <a:cs typeface="Lora"/>
                          <a:sym typeface="Lora"/>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just">
                        <a:lnSpc>
                          <a:spcPts val="2799"/>
                        </a:lnSpc>
                        <a:defRPr/>
                      </a:pPr>
                      <a:r>
                        <a:rPr lang="en-US" sz="1999">
                          <a:solidFill>
                            <a:srgbClr val="000000"/>
                          </a:solidFill>
                          <a:latin typeface="Lora"/>
                          <a:ea typeface="Lora"/>
                          <a:cs typeface="Lora"/>
                          <a:sym typeface="Lora"/>
                        </a:rPr>
                        <a:t>Yunus Emre GÜR</a:t>
                      </a:r>
                      <a:endParaRPr lang="en-US" sz="1100"/>
                    </a:p>
                    <a:p>
                      <a:pPr algn="just">
                        <a:lnSpc>
                          <a:spcPts val="2799"/>
                        </a:lnSpc>
                      </a:pPr>
                      <a:r>
                        <a:rPr lang="en-US" sz="1999">
                          <a:solidFill>
                            <a:srgbClr val="000000"/>
                          </a:solidFill>
                          <a:latin typeface="Lora"/>
                          <a:ea typeface="Lora"/>
                          <a:cs typeface="Lora"/>
                          <a:sym typeface="Lora"/>
                        </a:rPr>
                        <a:t>(2024)</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r>
                        <a:rPr lang="en-US" sz="1999">
                          <a:solidFill>
                            <a:srgbClr val="000000"/>
                          </a:solidFill>
                          <a:latin typeface="Lora"/>
                          <a:ea typeface="Lora"/>
                          <a:cs typeface="Lora"/>
                          <a:sym typeface="Lora"/>
                        </a:rPr>
                        <a:t>Comparative Analysis of Deep Learning Models for Silver Price Prediction: CNN, LSTM, GRU and Hybrid Approach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endParaRPr lang="en-US" sz="1100"/>
                    </a:p>
                    <a:p>
                      <a:pPr algn="l">
                        <a:lnSpc>
                          <a:spcPts val="2799"/>
                        </a:lnSpc>
                      </a:pPr>
                      <a:r>
                        <a:rPr lang="en-US" sz="1999">
                          <a:solidFill>
                            <a:srgbClr val="000000"/>
                          </a:solidFill>
                          <a:latin typeface="Lora"/>
                          <a:ea typeface="Lora"/>
                          <a:cs typeface="Lora"/>
                          <a:sym typeface="Lora"/>
                        </a:rPr>
                        <a:t>Hybrid CNN-LSTM-GRU model outperforms individual deep learning models in predicting silver prices. </a:t>
                      </a:r>
                    </a:p>
                  </a:txBody>
                  <a:tcPr marL="190500" marR="190500" marT="190500" marB="190500" anchor="t">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r>
                        <a:rPr lang="en-US" sz="1999">
                          <a:solidFill>
                            <a:srgbClr val="000000"/>
                          </a:solidFill>
                          <a:latin typeface="Lora"/>
                          <a:ea typeface="Lora"/>
                          <a:cs typeface="Lora"/>
                          <a:sym typeface="Lora"/>
                        </a:rPr>
                        <a:t>1] Hybrid model is computationally intensive.</a:t>
                      </a:r>
                      <a:endParaRPr lang="en-US" sz="1100"/>
                    </a:p>
                    <a:p>
                      <a:pPr algn="l">
                        <a:lnSpc>
                          <a:spcPts val="2799"/>
                        </a:lnSpc>
                      </a:pPr>
                      <a:r>
                        <a:rPr lang="en-US" sz="1999">
                          <a:solidFill>
                            <a:srgbClr val="000000"/>
                          </a:solidFill>
                          <a:latin typeface="Lora"/>
                          <a:ea typeface="Lora"/>
                          <a:cs typeface="Lora"/>
                          <a:sym typeface="Lora"/>
                        </a:rPr>
                        <a:t>2] The study overlooks external factors limiting prediction accuracy.</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r>
              <a:tr h="3132517">
                <a:tc>
                  <a:txBody>
                    <a:bodyPr anchor="t" rtlCol="false"/>
                    <a:lstStyle/>
                    <a:p>
                      <a:pPr algn="ctr">
                        <a:lnSpc>
                          <a:spcPts val="2520"/>
                        </a:lnSpc>
                        <a:defRPr/>
                      </a:pPr>
                      <a:r>
                        <a:rPr lang="en-US" sz="1800">
                          <a:solidFill>
                            <a:srgbClr val="000000"/>
                          </a:solidFill>
                          <a:latin typeface="Lora"/>
                          <a:ea typeface="Lora"/>
                          <a:cs typeface="Lora"/>
                          <a:sym typeface="Lora"/>
                        </a:rPr>
                        <a:t>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just">
                        <a:lnSpc>
                          <a:spcPts val="2799"/>
                        </a:lnSpc>
                        <a:defRPr/>
                      </a:pPr>
                      <a:r>
                        <a:rPr lang="en-US" sz="1999">
                          <a:solidFill>
                            <a:srgbClr val="000000"/>
                          </a:solidFill>
                          <a:latin typeface="Lora"/>
                          <a:ea typeface="Lora"/>
                          <a:cs typeface="Lora"/>
                          <a:sym typeface="Lora"/>
                        </a:rPr>
                        <a:t>Wen jun Gu, Yi hao Zhong, Shi zun Li, Chang song Wei, Li ting Dong, Zhuo yue Wang, Chao Yan</a:t>
                      </a:r>
                      <a:endParaRPr lang="en-US" sz="1100"/>
                    </a:p>
                    <a:p>
                      <a:pPr algn="just">
                        <a:lnSpc>
                          <a:spcPts val="2799"/>
                        </a:lnSpc>
                      </a:pPr>
                      <a:r>
                        <a:rPr lang="en-US" sz="1999">
                          <a:solidFill>
                            <a:srgbClr val="000000"/>
                          </a:solidFill>
                          <a:latin typeface="Lora"/>
                          <a:ea typeface="Lora"/>
                          <a:cs typeface="Lora"/>
                          <a:sym typeface="Lora"/>
                        </a:rPr>
                        <a:t>(2024)</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r>
                        <a:rPr lang="en-US" sz="1999">
                          <a:solidFill>
                            <a:srgbClr val="000000"/>
                          </a:solidFill>
                          <a:latin typeface="Lora"/>
                          <a:ea typeface="Lora"/>
                          <a:cs typeface="Lora"/>
                          <a:sym typeface="Lora"/>
                        </a:rPr>
                        <a:t>Predicting Stock Prices with FinBERT – LSTM: Integrating News Sentiment Analysis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r>
                        <a:rPr lang="en-US" sz="1999">
                          <a:solidFill>
                            <a:srgbClr val="000000"/>
                          </a:solidFill>
                          <a:latin typeface="Lora"/>
                          <a:ea typeface="Lora"/>
                          <a:cs typeface="Lora"/>
                          <a:sym typeface="Lora"/>
                        </a:rPr>
                        <a:t>Hybrid deep learning model (FinBERT - LSTM) for stock price prediction by integrating historical stock data and financial news sentiment.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r>
                        <a:rPr lang="en-US" sz="1999">
                          <a:solidFill>
                            <a:srgbClr val="000000"/>
                          </a:solidFill>
                          <a:latin typeface="Lora"/>
                          <a:ea typeface="Lora"/>
                          <a:cs typeface="Lora"/>
                          <a:sym typeface="Lora"/>
                        </a:rPr>
                        <a:t>No mechanism to filter misinformation, which could mislead predictions.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r>
            </a:tbl>
          </a:graphicData>
        </a:graphic>
      </p:graphicFrame>
      <p:sp>
        <p:nvSpPr>
          <p:cNvPr name="TextBox 6" id="6"/>
          <p:cNvSpPr txBox="true"/>
          <p:nvPr/>
        </p:nvSpPr>
        <p:spPr>
          <a:xfrm rot="0">
            <a:off x="582337" y="400851"/>
            <a:ext cx="5344319" cy="811078"/>
          </a:xfrm>
          <a:prstGeom prst="rect">
            <a:avLst/>
          </a:prstGeom>
        </p:spPr>
        <p:txBody>
          <a:bodyPr anchor="t" rtlCol="false" tIns="0" lIns="0" bIns="0" rIns="0">
            <a:spAutoFit/>
          </a:bodyPr>
          <a:lstStyle/>
          <a:p>
            <a:pPr algn="ctr">
              <a:lnSpc>
                <a:spcPts val="6744"/>
              </a:lnSpc>
              <a:spcBef>
                <a:spcPct val="0"/>
              </a:spcBef>
            </a:pPr>
            <a:r>
              <a:rPr lang="en-US" b="true" sz="4817">
                <a:solidFill>
                  <a:srgbClr val="000000"/>
                </a:solidFill>
                <a:latin typeface="Lora Bold"/>
                <a:ea typeface="Lora Bold"/>
                <a:cs typeface="Lora Bold"/>
                <a:sym typeface="Lora Bold"/>
              </a:rPr>
              <a:t>Literature Survey:</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829956" y="1572706"/>
            <a:ext cx="19947911" cy="12265335"/>
            <a:chOff x="0" y="0"/>
            <a:chExt cx="5039628" cy="3098706"/>
          </a:xfrm>
        </p:grpSpPr>
        <p:sp>
          <p:nvSpPr>
            <p:cNvPr name="Freeform 3" id="3"/>
            <p:cNvSpPr/>
            <p:nvPr/>
          </p:nvSpPr>
          <p:spPr>
            <a:xfrm flipH="false" flipV="false" rot="0">
              <a:off x="0" y="0"/>
              <a:ext cx="5039628" cy="3098706"/>
            </a:xfrm>
            <a:custGeom>
              <a:avLst/>
              <a:gdLst/>
              <a:ahLst/>
              <a:cxnLst/>
              <a:rect r="r" b="b" t="t" l="l"/>
              <a:pathLst>
                <a:path h="3098706" w="5039628">
                  <a:moveTo>
                    <a:pt x="0" y="0"/>
                  </a:moveTo>
                  <a:lnTo>
                    <a:pt x="5039628" y="0"/>
                  </a:lnTo>
                  <a:lnTo>
                    <a:pt x="5039628" y="3098706"/>
                  </a:lnTo>
                  <a:lnTo>
                    <a:pt x="0" y="3098706"/>
                  </a:lnTo>
                  <a:close/>
                </a:path>
              </a:pathLst>
            </a:custGeom>
            <a:solidFill>
              <a:srgbClr val="DFD3CA"/>
            </a:solidFill>
            <a:ln cap="sq">
              <a:noFill/>
              <a:prstDash val="solid"/>
              <a:miter/>
            </a:ln>
          </p:spPr>
        </p:sp>
        <p:sp>
          <p:nvSpPr>
            <p:cNvPr name="TextBox 4" id="4"/>
            <p:cNvSpPr txBox="true"/>
            <p:nvPr/>
          </p:nvSpPr>
          <p:spPr>
            <a:xfrm>
              <a:off x="0" y="-57150"/>
              <a:ext cx="5039628" cy="3155856"/>
            </a:xfrm>
            <a:prstGeom prst="rect">
              <a:avLst/>
            </a:prstGeom>
          </p:spPr>
          <p:txBody>
            <a:bodyPr anchor="ctr" rtlCol="false" tIns="0" lIns="0" bIns="0" rIns="0"/>
            <a:lstStyle/>
            <a:p>
              <a:pPr algn="ctr" marL="0" indent="0" lvl="0">
                <a:lnSpc>
                  <a:spcPts val="3804"/>
                </a:lnSpc>
                <a:spcBef>
                  <a:spcPct val="0"/>
                </a:spcBef>
              </a:pPr>
            </a:p>
          </p:txBody>
        </p:sp>
      </p:grpSp>
      <p:graphicFrame>
        <p:nvGraphicFramePr>
          <p:cNvPr name="Table 5" id="5"/>
          <p:cNvGraphicFramePr>
            <a:graphicFrameLocks noGrp="true"/>
          </p:cNvGraphicFramePr>
          <p:nvPr/>
        </p:nvGraphicFramePr>
        <p:xfrm>
          <a:off x="1028700" y="2117604"/>
          <a:ext cx="16230600" cy="7476386"/>
        </p:xfrm>
        <a:graphic>
          <a:graphicData uri="http://schemas.openxmlformats.org/drawingml/2006/table">
            <a:tbl>
              <a:tblPr/>
              <a:tblGrid>
                <a:gridCol w="1214927"/>
                <a:gridCol w="3675459"/>
                <a:gridCol w="3639491"/>
                <a:gridCol w="3820189"/>
                <a:gridCol w="3880535"/>
              </a:tblGrid>
              <a:tr h="1366421">
                <a:tc>
                  <a:txBody>
                    <a:bodyPr anchor="t" rtlCol="false"/>
                    <a:lstStyle/>
                    <a:p>
                      <a:pPr algn="ctr">
                        <a:lnSpc>
                          <a:spcPts val="2799"/>
                        </a:lnSpc>
                        <a:defRPr/>
                      </a:pPr>
                      <a:r>
                        <a:rPr lang="en-US" sz="1999" b="true">
                          <a:solidFill>
                            <a:srgbClr val="000000"/>
                          </a:solidFill>
                          <a:latin typeface="Lora Bold"/>
                          <a:ea typeface="Lora Bold"/>
                          <a:cs typeface="Lora Bold"/>
                          <a:sym typeface="Lora Bold"/>
                        </a:rPr>
                        <a:t>Sr. 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3B6AC"/>
                    </a:solidFill>
                  </a:tcPr>
                </a:tc>
                <a:tc>
                  <a:txBody>
                    <a:bodyPr anchor="t" rtlCol="false"/>
                    <a:lstStyle/>
                    <a:p>
                      <a:pPr algn="ctr">
                        <a:lnSpc>
                          <a:spcPts val="2799"/>
                        </a:lnSpc>
                        <a:defRPr/>
                      </a:pPr>
                      <a:r>
                        <a:rPr lang="en-US" sz="1999" b="true">
                          <a:solidFill>
                            <a:srgbClr val="000000"/>
                          </a:solidFill>
                          <a:latin typeface="Lora Bold"/>
                          <a:ea typeface="Lora Bold"/>
                          <a:cs typeface="Lora Bold"/>
                          <a:sym typeface="Lora Bold"/>
                        </a:rPr>
                        <a:t>Authors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3B6AC"/>
                    </a:solidFill>
                  </a:tcPr>
                </a:tc>
                <a:tc>
                  <a:txBody>
                    <a:bodyPr anchor="t" rtlCol="false"/>
                    <a:lstStyle/>
                    <a:p>
                      <a:pPr algn="ctr">
                        <a:lnSpc>
                          <a:spcPts val="2799"/>
                        </a:lnSpc>
                        <a:defRPr/>
                      </a:pPr>
                      <a:r>
                        <a:rPr lang="en-US" b="true" sz="1999">
                          <a:solidFill>
                            <a:srgbClr val="000000"/>
                          </a:solidFill>
                          <a:latin typeface="Lora Bold"/>
                          <a:ea typeface="Lora Bold"/>
                          <a:cs typeface="Lora Bold"/>
                          <a:sym typeface="Lora Bold"/>
                        </a:rPr>
                        <a:t>Title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3B6AC"/>
                    </a:solidFill>
                  </a:tcPr>
                </a:tc>
                <a:tc>
                  <a:txBody>
                    <a:bodyPr anchor="t" rtlCol="false"/>
                    <a:lstStyle/>
                    <a:p>
                      <a:pPr algn="ctr">
                        <a:lnSpc>
                          <a:spcPts val="2799"/>
                        </a:lnSpc>
                        <a:defRPr/>
                      </a:pPr>
                      <a:r>
                        <a:rPr lang="en-US" b="true" sz="1999">
                          <a:solidFill>
                            <a:srgbClr val="000000"/>
                          </a:solidFill>
                          <a:latin typeface="Lora Bold"/>
                          <a:ea typeface="Lora Bold"/>
                          <a:cs typeface="Lora Bold"/>
                          <a:sym typeface="Lora Bold"/>
                        </a:rPr>
                        <a:t>Summary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3B6AC"/>
                    </a:solidFill>
                  </a:tcPr>
                </a:tc>
                <a:tc>
                  <a:txBody>
                    <a:bodyPr anchor="t" rtlCol="false"/>
                    <a:lstStyle/>
                    <a:p>
                      <a:pPr algn="ctr">
                        <a:lnSpc>
                          <a:spcPts val="2799"/>
                        </a:lnSpc>
                        <a:defRPr/>
                      </a:pPr>
                      <a:r>
                        <a:rPr lang="en-US" b="true" sz="1999">
                          <a:solidFill>
                            <a:srgbClr val="000000"/>
                          </a:solidFill>
                          <a:latin typeface="Lora Bold"/>
                          <a:ea typeface="Lora Bold"/>
                          <a:cs typeface="Lora Bold"/>
                          <a:sym typeface="Lora Bold"/>
                        </a:rPr>
                        <a:t>Limitation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3B6AC"/>
                    </a:solidFill>
                  </a:tcPr>
                </a:tc>
              </a:tr>
              <a:tr h="2977448">
                <a:tc>
                  <a:txBody>
                    <a:bodyPr anchor="t" rtlCol="false"/>
                    <a:lstStyle/>
                    <a:p>
                      <a:pPr algn="ctr">
                        <a:lnSpc>
                          <a:spcPts val="2799"/>
                        </a:lnSpc>
                        <a:defRPr/>
                      </a:pPr>
                      <a:r>
                        <a:rPr lang="en-US" sz="1999">
                          <a:solidFill>
                            <a:srgbClr val="000000"/>
                          </a:solidFill>
                          <a:latin typeface="Lora"/>
                          <a:ea typeface="Lora"/>
                          <a:cs typeface="Lora"/>
                          <a:sym typeface="Lora"/>
                        </a:rPr>
                        <a:t>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r>
                        <a:rPr lang="en-US" sz="1999">
                          <a:solidFill>
                            <a:srgbClr val="000000"/>
                          </a:solidFill>
                          <a:latin typeface="Lora"/>
                          <a:ea typeface="Lora"/>
                          <a:cs typeface="Lora"/>
                          <a:sym typeface="Lora"/>
                        </a:rPr>
                        <a:t>Ali Mohammadjafari</a:t>
                      </a:r>
                      <a:endParaRPr lang="en-US" sz="1100"/>
                    </a:p>
                    <a:p>
                      <a:pPr algn="l">
                        <a:lnSpc>
                          <a:spcPts val="2799"/>
                        </a:lnSpc>
                      </a:pPr>
                      <a:r>
                        <a:rPr lang="en-US" sz="1999">
                          <a:solidFill>
                            <a:srgbClr val="000000"/>
                          </a:solidFill>
                          <a:latin typeface="Lora"/>
                          <a:ea typeface="Lora"/>
                          <a:cs typeface="Lora"/>
                          <a:sym typeface="Lora"/>
                        </a:rPr>
                        <a:t>2024</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r>
                        <a:rPr lang="en-US" sz="1999">
                          <a:solidFill>
                            <a:srgbClr val="000000"/>
                          </a:solidFill>
                          <a:latin typeface="Lora"/>
                          <a:ea typeface="Lora"/>
                          <a:cs typeface="Lora"/>
                          <a:sym typeface="Lora"/>
                        </a:rPr>
                        <a:t>Comparative Study of Bitcoin Price Prediction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endParaRPr lang="en-US" sz="1100"/>
                    </a:p>
                    <a:p>
                      <a:pPr algn="l">
                        <a:lnSpc>
                          <a:spcPts val="2799"/>
                        </a:lnSpc>
                      </a:pPr>
                      <a:r>
                        <a:rPr lang="en-US" sz="1999">
                          <a:solidFill>
                            <a:srgbClr val="000000"/>
                          </a:solidFill>
                          <a:latin typeface="Lora"/>
                          <a:ea typeface="Lora"/>
                          <a:cs typeface="Lora"/>
                          <a:sym typeface="Lora"/>
                        </a:rPr>
                        <a:t>GRU outperformed LSTM in predicting Bitcoin prices, proving more accurate and efficient</a:t>
                      </a:r>
                    </a:p>
                  </a:txBody>
                  <a:tcPr marL="190500" marR="190500" marT="190500" marB="190500" anchor="t">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r>
                        <a:rPr lang="en-US" sz="1999">
                          <a:solidFill>
                            <a:srgbClr val="000000"/>
                          </a:solidFill>
                          <a:latin typeface="Lora"/>
                          <a:ea typeface="Lora"/>
                          <a:cs typeface="Lora"/>
                          <a:sym typeface="Lora"/>
                        </a:rPr>
                        <a:t>Only LSTM and GRU were tested – other models might perform better.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r>
              <a:tr h="3132517">
                <a:tc>
                  <a:txBody>
                    <a:bodyPr anchor="t" rtlCol="false"/>
                    <a:lstStyle/>
                    <a:p>
                      <a:pPr algn="ctr">
                        <a:lnSpc>
                          <a:spcPts val="2799"/>
                        </a:lnSpc>
                        <a:defRPr/>
                      </a:pPr>
                      <a:r>
                        <a:rPr lang="en-US" sz="1999">
                          <a:solidFill>
                            <a:srgbClr val="000000"/>
                          </a:solidFill>
                          <a:latin typeface="Lora"/>
                          <a:ea typeface="Lora"/>
                          <a:cs typeface="Lora"/>
                          <a:sym typeface="Lora"/>
                        </a:rPr>
                        <a:t>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just">
                        <a:lnSpc>
                          <a:spcPts val="2799"/>
                        </a:lnSpc>
                        <a:defRPr/>
                      </a:pPr>
                      <a:r>
                        <a:rPr lang="en-US" sz="1999">
                          <a:solidFill>
                            <a:srgbClr val="000000"/>
                          </a:solidFill>
                          <a:latin typeface="Lora"/>
                          <a:ea typeface="Lora"/>
                          <a:cs typeface="Lora"/>
                          <a:sym typeface="Lora"/>
                        </a:rPr>
                        <a:t>Zhuang Liu, Degen Huang, Kaiyu Huang, Zhuang Li, Jun Zhao</a:t>
                      </a:r>
                      <a:endParaRPr lang="en-US" sz="1100"/>
                    </a:p>
                    <a:p>
                      <a:pPr algn="just">
                        <a:lnSpc>
                          <a:spcPts val="2799"/>
                        </a:lnSpc>
                      </a:pPr>
                      <a:r>
                        <a:rPr lang="en-US" sz="1999">
                          <a:solidFill>
                            <a:srgbClr val="000000"/>
                          </a:solidFill>
                          <a:latin typeface="Lora"/>
                          <a:ea typeface="Lora"/>
                          <a:cs typeface="Lora"/>
                          <a:sym typeface="Lora"/>
                        </a:rPr>
                        <a:t>(2021)</a:t>
                      </a:r>
                    </a:p>
                    <a:p>
                      <a:pPr algn="just">
                        <a:lnSpc>
                          <a:spcPts val="279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r>
                        <a:rPr lang="en-US" sz="1999">
                          <a:solidFill>
                            <a:srgbClr val="000000"/>
                          </a:solidFill>
                          <a:latin typeface="Lora"/>
                          <a:ea typeface="Lora"/>
                          <a:cs typeface="Lora"/>
                          <a:sym typeface="Lora"/>
                        </a:rPr>
                        <a:t>FinBERT: A Pre – trained Financial Language Representation Model for Financial Text Mining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r>
                        <a:rPr lang="en-US" sz="1999">
                          <a:solidFill>
                            <a:srgbClr val="000000"/>
                          </a:solidFill>
                          <a:latin typeface="Lora"/>
                          <a:ea typeface="Lora"/>
                          <a:cs typeface="Lora"/>
                          <a:sym typeface="Lora"/>
                        </a:rPr>
                        <a:t>FinBERT improves financial text mining by combining domain specific pre-training, multi-task learning, making it more accurate and robust than standard BERT.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c>
                  <a:txBody>
                    <a:bodyPr anchor="t" rtlCol="false"/>
                    <a:lstStyle/>
                    <a:p>
                      <a:pPr algn="l">
                        <a:lnSpc>
                          <a:spcPts val="2799"/>
                        </a:lnSpc>
                        <a:defRPr/>
                      </a:pPr>
                      <a:r>
                        <a:rPr lang="en-US" sz="1999">
                          <a:solidFill>
                            <a:srgbClr val="000000"/>
                          </a:solidFill>
                          <a:latin typeface="Lora"/>
                          <a:ea typeface="Lora"/>
                          <a:cs typeface="Lora"/>
                          <a:sym typeface="Lora"/>
                        </a:rPr>
                        <a:t>Pre-training needs massive amounts of data, not always available in specialized finance sub-domains.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DFDFD"/>
                    </a:solidFill>
                  </a:tcPr>
                </a:tc>
              </a:tr>
            </a:tbl>
          </a:graphicData>
        </a:graphic>
      </p:graphicFrame>
      <p:sp>
        <p:nvSpPr>
          <p:cNvPr name="TextBox 6" id="6"/>
          <p:cNvSpPr txBox="true"/>
          <p:nvPr/>
        </p:nvSpPr>
        <p:spPr>
          <a:xfrm rot="0">
            <a:off x="582337" y="400851"/>
            <a:ext cx="5344319" cy="811078"/>
          </a:xfrm>
          <a:prstGeom prst="rect">
            <a:avLst/>
          </a:prstGeom>
        </p:spPr>
        <p:txBody>
          <a:bodyPr anchor="t" rtlCol="false" tIns="0" lIns="0" bIns="0" rIns="0">
            <a:spAutoFit/>
          </a:bodyPr>
          <a:lstStyle/>
          <a:p>
            <a:pPr algn="ctr">
              <a:lnSpc>
                <a:spcPts val="6744"/>
              </a:lnSpc>
              <a:spcBef>
                <a:spcPct val="0"/>
              </a:spcBef>
            </a:pPr>
            <a:r>
              <a:rPr lang="en-US" b="true" sz="4817">
                <a:solidFill>
                  <a:srgbClr val="000000"/>
                </a:solidFill>
                <a:latin typeface="Lora Bold"/>
                <a:ea typeface="Lora Bold"/>
                <a:cs typeface="Lora Bold"/>
                <a:sym typeface="Lora Bold"/>
              </a:rPr>
              <a:t>Literature Survey: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59684" y="3157410"/>
            <a:ext cx="10968633" cy="6393539"/>
          </a:xfrm>
          <a:custGeom>
            <a:avLst/>
            <a:gdLst/>
            <a:ahLst/>
            <a:cxnLst/>
            <a:rect r="r" b="b" t="t" l="l"/>
            <a:pathLst>
              <a:path h="6393539" w="10968633">
                <a:moveTo>
                  <a:pt x="0" y="0"/>
                </a:moveTo>
                <a:lnTo>
                  <a:pt x="10968632" y="0"/>
                </a:lnTo>
                <a:lnTo>
                  <a:pt x="10968632" y="6393539"/>
                </a:lnTo>
                <a:lnTo>
                  <a:pt x="0" y="6393539"/>
                </a:lnTo>
                <a:lnTo>
                  <a:pt x="0" y="0"/>
                </a:lnTo>
                <a:close/>
              </a:path>
            </a:pathLst>
          </a:custGeom>
          <a:blipFill>
            <a:blip r:embed="rId2"/>
            <a:stretch>
              <a:fillRect l="0" t="0" r="0" b="-31763"/>
            </a:stretch>
          </a:blipFill>
        </p:spPr>
      </p:sp>
      <p:sp>
        <p:nvSpPr>
          <p:cNvPr name="TextBox 3" id="3"/>
          <p:cNvSpPr txBox="true"/>
          <p:nvPr/>
        </p:nvSpPr>
        <p:spPr>
          <a:xfrm rot="0">
            <a:off x="1028700" y="942975"/>
            <a:ext cx="10774332" cy="811078"/>
          </a:xfrm>
          <a:prstGeom prst="rect">
            <a:avLst/>
          </a:prstGeom>
        </p:spPr>
        <p:txBody>
          <a:bodyPr anchor="t" rtlCol="false" tIns="0" lIns="0" bIns="0" rIns="0">
            <a:spAutoFit/>
          </a:bodyPr>
          <a:lstStyle/>
          <a:p>
            <a:pPr algn="ctr">
              <a:lnSpc>
                <a:spcPts val="6744"/>
              </a:lnSpc>
              <a:spcBef>
                <a:spcPct val="0"/>
              </a:spcBef>
            </a:pPr>
            <a:r>
              <a:rPr lang="en-US" b="true" sz="4817">
                <a:solidFill>
                  <a:srgbClr val="000000"/>
                </a:solidFill>
                <a:latin typeface="Lora Bold"/>
                <a:ea typeface="Lora Bold"/>
                <a:cs typeface="Lora Bold"/>
                <a:sym typeface="Lora Bold"/>
              </a:rPr>
              <a:t>Flowchart - Overall System Diagram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56071" y="2375549"/>
            <a:ext cx="12175859" cy="7376579"/>
          </a:xfrm>
          <a:custGeom>
            <a:avLst/>
            <a:gdLst/>
            <a:ahLst/>
            <a:cxnLst/>
            <a:rect r="r" b="b" t="t" l="l"/>
            <a:pathLst>
              <a:path h="7376579" w="12175859">
                <a:moveTo>
                  <a:pt x="0" y="0"/>
                </a:moveTo>
                <a:lnTo>
                  <a:pt x="12175858" y="0"/>
                </a:lnTo>
                <a:lnTo>
                  <a:pt x="12175858" y="7376579"/>
                </a:lnTo>
                <a:lnTo>
                  <a:pt x="0" y="7376579"/>
                </a:lnTo>
                <a:lnTo>
                  <a:pt x="0" y="0"/>
                </a:lnTo>
                <a:close/>
              </a:path>
            </a:pathLst>
          </a:custGeom>
          <a:blipFill>
            <a:blip r:embed="rId2"/>
            <a:stretch>
              <a:fillRect l="0" t="0" r="-411" b="-16274"/>
            </a:stretch>
          </a:blipFill>
        </p:spPr>
      </p:sp>
      <p:sp>
        <p:nvSpPr>
          <p:cNvPr name="TextBox 3" id="3"/>
          <p:cNvSpPr txBox="true"/>
          <p:nvPr/>
        </p:nvSpPr>
        <p:spPr>
          <a:xfrm rot="0">
            <a:off x="1028700" y="942975"/>
            <a:ext cx="10388824" cy="811078"/>
          </a:xfrm>
          <a:prstGeom prst="rect">
            <a:avLst/>
          </a:prstGeom>
        </p:spPr>
        <p:txBody>
          <a:bodyPr anchor="t" rtlCol="false" tIns="0" lIns="0" bIns="0" rIns="0">
            <a:spAutoFit/>
          </a:bodyPr>
          <a:lstStyle/>
          <a:p>
            <a:pPr algn="ctr">
              <a:lnSpc>
                <a:spcPts val="6744"/>
              </a:lnSpc>
              <a:spcBef>
                <a:spcPct val="0"/>
              </a:spcBef>
            </a:pPr>
            <a:r>
              <a:rPr lang="en-US" b="true" sz="4817">
                <a:solidFill>
                  <a:srgbClr val="000000"/>
                </a:solidFill>
                <a:latin typeface="Lora Bold"/>
                <a:ea typeface="Lora Bold"/>
                <a:cs typeface="Lora Bold"/>
                <a:sym typeface="Lora Bold"/>
              </a:rPr>
              <a:t>Flowchart - Stock Price Prediction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30222" y="2943256"/>
            <a:ext cx="13627555" cy="6526073"/>
          </a:xfrm>
          <a:custGeom>
            <a:avLst/>
            <a:gdLst/>
            <a:ahLst/>
            <a:cxnLst/>
            <a:rect r="r" b="b" t="t" l="l"/>
            <a:pathLst>
              <a:path h="6526073" w="13627555">
                <a:moveTo>
                  <a:pt x="0" y="0"/>
                </a:moveTo>
                <a:lnTo>
                  <a:pt x="13627556" y="0"/>
                </a:lnTo>
                <a:lnTo>
                  <a:pt x="13627556" y="6526074"/>
                </a:lnTo>
                <a:lnTo>
                  <a:pt x="0" y="6526074"/>
                </a:lnTo>
                <a:lnTo>
                  <a:pt x="0" y="0"/>
                </a:lnTo>
                <a:close/>
              </a:path>
            </a:pathLst>
          </a:custGeom>
          <a:blipFill>
            <a:blip r:embed="rId2"/>
            <a:stretch>
              <a:fillRect l="0" t="0" r="0" b="-19472"/>
            </a:stretch>
          </a:blipFill>
        </p:spPr>
      </p:sp>
      <p:sp>
        <p:nvSpPr>
          <p:cNvPr name="TextBox 3" id="3"/>
          <p:cNvSpPr txBox="true"/>
          <p:nvPr/>
        </p:nvSpPr>
        <p:spPr>
          <a:xfrm rot="0">
            <a:off x="1028700" y="942975"/>
            <a:ext cx="12011710" cy="811078"/>
          </a:xfrm>
          <a:prstGeom prst="rect">
            <a:avLst/>
          </a:prstGeom>
        </p:spPr>
        <p:txBody>
          <a:bodyPr anchor="t" rtlCol="false" tIns="0" lIns="0" bIns="0" rIns="0">
            <a:spAutoFit/>
          </a:bodyPr>
          <a:lstStyle/>
          <a:p>
            <a:pPr algn="ctr">
              <a:lnSpc>
                <a:spcPts val="6744"/>
              </a:lnSpc>
              <a:spcBef>
                <a:spcPct val="0"/>
              </a:spcBef>
            </a:pPr>
            <a:r>
              <a:rPr lang="en-US" b="true" sz="4817">
                <a:solidFill>
                  <a:srgbClr val="000000"/>
                </a:solidFill>
                <a:latin typeface="Lora Bold"/>
                <a:ea typeface="Lora Bold"/>
                <a:cs typeface="Lora Bold"/>
                <a:sym typeface="Lora Bold"/>
              </a:rPr>
              <a:t>Flowchart - Sentiment Score Calculation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47802" y="2241481"/>
            <a:ext cx="12992395" cy="7792024"/>
          </a:xfrm>
          <a:custGeom>
            <a:avLst/>
            <a:gdLst/>
            <a:ahLst/>
            <a:cxnLst/>
            <a:rect r="r" b="b" t="t" l="l"/>
            <a:pathLst>
              <a:path h="7792024" w="12992395">
                <a:moveTo>
                  <a:pt x="0" y="0"/>
                </a:moveTo>
                <a:lnTo>
                  <a:pt x="12992396" y="0"/>
                </a:lnTo>
                <a:lnTo>
                  <a:pt x="12992396" y="7792024"/>
                </a:lnTo>
                <a:lnTo>
                  <a:pt x="0" y="7792024"/>
                </a:lnTo>
                <a:lnTo>
                  <a:pt x="0" y="0"/>
                </a:lnTo>
                <a:close/>
              </a:path>
            </a:pathLst>
          </a:custGeom>
          <a:blipFill>
            <a:blip r:embed="rId2"/>
            <a:stretch>
              <a:fillRect l="0" t="0" r="0" b="-16802"/>
            </a:stretch>
          </a:blipFill>
        </p:spPr>
      </p:sp>
      <p:sp>
        <p:nvSpPr>
          <p:cNvPr name="TextBox 3" id="3"/>
          <p:cNvSpPr txBox="true"/>
          <p:nvPr/>
        </p:nvSpPr>
        <p:spPr>
          <a:xfrm rot="0">
            <a:off x="1028700" y="942975"/>
            <a:ext cx="11121740" cy="811078"/>
          </a:xfrm>
          <a:prstGeom prst="rect">
            <a:avLst/>
          </a:prstGeom>
        </p:spPr>
        <p:txBody>
          <a:bodyPr anchor="t" rtlCol="false" tIns="0" lIns="0" bIns="0" rIns="0">
            <a:spAutoFit/>
          </a:bodyPr>
          <a:lstStyle/>
          <a:p>
            <a:pPr algn="ctr">
              <a:lnSpc>
                <a:spcPts val="6744"/>
              </a:lnSpc>
              <a:spcBef>
                <a:spcPct val="0"/>
              </a:spcBef>
            </a:pPr>
            <a:r>
              <a:rPr lang="en-US" b="true" sz="4817">
                <a:solidFill>
                  <a:srgbClr val="000000"/>
                </a:solidFill>
                <a:latin typeface="Lora Bold"/>
                <a:ea typeface="Lora Bold"/>
                <a:cs typeface="Lora Bold"/>
                <a:sym typeface="Lora Bold"/>
              </a:rPr>
              <a:t>Flowchart - Recommendation System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877281" y="0"/>
            <a:ext cx="3088591" cy="10287000"/>
            <a:chOff x="0" y="0"/>
            <a:chExt cx="813456" cy="2709333"/>
          </a:xfrm>
        </p:grpSpPr>
        <p:sp>
          <p:nvSpPr>
            <p:cNvPr name="Freeform 3" id="3"/>
            <p:cNvSpPr/>
            <p:nvPr/>
          </p:nvSpPr>
          <p:spPr>
            <a:xfrm flipH="false" flipV="false" rot="0">
              <a:off x="0" y="0"/>
              <a:ext cx="813456" cy="2709333"/>
            </a:xfrm>
            <a:custGeom>
              <a:avLst/>
              <a:gdLst/>
              <a:ahLst/>
              <a:cxnLst/>
              <a:rect r="r" b="b" t="t" l="l"/>
              <a:pathLst>
                <a:path h="2709333" w="813456">
                  <a:moveTo>
                    <a:pt x="0" y="0"/>
                  </a:moveTo>
                  <a:lnTo>
                    <a:pt x="813456" y="0"/>
                  </a:lnTo>
                  <a:lnTo>
                    <a:pt x="813456" y="2709333"/>
                  </a:lnTo>
                  <a:lnTo>
                    <a:pt x="0" y="2709333"/>
                  </a:lnTo>
                  <a:close/>
                </a:path>
              </a:pathLst>
            </a:custGeom>
            <a:solidFill>
              <a:srgbClr val="DFD3CA"/>
            </a:solidFill>
            <a:ln cap="sq">
              <a:noFill/>
              <a:prstDash val="solid"/>
              <a:miter/>
            </a:ln>
          </p:spPr>
        </p:sp>
        <p:sp>
          <p:nvSpPr>
            <p:cNvPr name="TextBox 4" id="4"/>
            <p:cNvSpPr txBox="true"/>
            <p:nvPr/>
          </p:nvSpPr>
          <p:spPr>
            <a:xfrm>
              <a:off x="0" y="-28575"/>
              <a:ext cx="813456" cy="2737908"/>
            </a:xfrm>
            <a:prstGeom prst="rect">
              <a:avLst/>
            </a:prstGeom>
          </p:spPr>
          <p:txBody>
            <a:bodyPr anchor="ctr" rtlCol="false" tIns="50800" lIns="50800" bIns="50800" rIns="50800"/>
            <a:lstStyle/>
            <a:p>
              <a:pPr algn="ctr">
                <a:lnSpc>
                  <a:spcPts val="2852"/>
                </a:lnSpc>
              </a:pPr>
            </a:p>
          </p:txBody>
        </p:sp>
      </p:grpSp>
      <p:sp>
        <p:nvSpPr>
          <p:cNvPr name="Freeform 5" id="5"/>
          <p:cNvSpPr/>
          <p:nvPr/>
        </p:nvSpPr>
        <p:spPr>
          <a:xfrm flipH="false" flipV="false" rot="0">
            <a:off x="-3725255" y="7105272"/>
            <a:ext cx="7450509" cy="7450509"/>
          </a:xfrm>
          <a:custGeom>
            <a:avLst/>
            <a:gdLst/>
            <a:ahLst/>
            <a:cxnLst/>
            <a:rect r="r" b="b" t="t" l="l"/>
            <a:pathLst>
              <a:path h="7450509" w="7450509">
                <a:moveTo>
                  <a:pt x="0" y="0"/>
                </a:moveTo>
                <a:lnTo>
                  <a:pt x="7450510" y="0"/>
                </a:lnTo>
                <a:lnTo>
                  <a:pt x="7450510" y="7450510"/>
                </a:lnTo>
                <a:lnTo>
                  <a:pt x="0" y="7450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706625" y="-4304799"/>
            <a:ext cx="7450509" cy="7450509"/>
          </a:xfrm>
          <a:custGeom>
            <a:avLst/>
            <a:gdLst/>
            <a:ahLst/>
            <a:cxnLst/>
            <a:rect r="r" b="b" t="t" l="l"/>
            <a:pathLst>
              <a:path h="7450509" w="7450509">
                <a:moveTo>
                  <a:pt x="0" y="0"/>
                </a:moveTo>
                <a:lnTo>
                  <a:pt x="7450509" y="0"/>
                </a:lnTo>
                <a:lnTo>
                  <a:pt x="7450509"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211310" y="933450"/>
            <a:ext cx="5177036" cy="813618"/>
          </a:xfrm>
          <a:prstGeom prst="rect">
            <a:avLst/>
          </a:prstGeom>
        </p:spPr>
        <p:txBody>
          <a:bodyPr anchor="t" rtlCol="false" tIns="0" lIns="0" bIns="0" rIns="0">
            <a:spAutoFit/>
          </a:bodyPr>
          <a:lstStyle/>
          <a:p>
            <a:pPr algn="ctr">
              <a:lnSpc>
                <a:spcPts val="6604"/>
              </a:lnSpc>
              <a:spcBef>
                <a:spcPct val="0"/>
              </a:spcBef>
            </a:pPr>
            <a:r>
              <a:rPr lang="en-US" b="true" sz="4717">
                <a:solidFill>
                  <a:srgbClr val="000000"/>
                </a:solidFill>
                <a:latin typeface="Lora Bold"/>
                <a:ea typeface="Lora Bold"/>
                <a:cs typeface="Lora Bold"/>
                <a:sym typeface="Lora Bold"/>
              </a:rPr>
              <a:t>Technology Stack:</a:t>
            </a:r>
          </a:p>
        </p:txBody>
      </p:sp>
      <p:sp>
        <p:nvSpPr>
          <p:cNvPr name="TextBox 8" id="8"/>
          <p:cNvSpPr txBox="true"/>
          <p:nvPr/>
        </p:nvSpPr>
        <p:spPr>
          <a:xfrm rot="0">
            <a:off x="2646790" y="2710178"/>
            <a:ext cx="11170643" cy="6680962"/>
          </a:xfrm>
          <a:prstGeom prst="rect">
            <a:avLst/>
          </a:prstGeom>
        </p:spPr>
        <p:txBody>
          <a:bodyPr anchor="t" rtlCol="false" tIns="0" lIns="0" bIns="0" rIns="0">
            <a:spAutoFit/>
          </a:bodyPr>
          <a:lstStyle/>
          <a:p>
            <a:pPr algn="l">
              <a:lnSpc>
                <a:spcPts val="6608"/>
              </a:lnSpc>
            </a:pPr>
            <a:r>
              <a:rPr lang="en-US" sz="4720">
                <a:solidFill>
                  <a:srgbClr val="000000"/>
                </a:solidFill>
                <a:latin typeface="Lora"/>
                <a:ea typeface="Lora"/>
                <a:cs typeface="Lora"/>
                <a:sym typeface="Lora"/>
              </a:rPr>
              <a:t>1] </a:t>
            </a:r>
            <a:r>
              <a:rPr lang="en-US" sz="4720" b="true">
                <a:solidFill>
                  <a:srgbClr val="000000"/>
                </a:solidFill>
                <a:latin typeface="Lora Bold"/>
                <a:ea typeface="Lora Bold"/>
                <a:cs typeface="Lora Bold"/>
                <a:sym typeface="Lora Bold"/>
              </a:rPr>
              <a:t>Programming Language:</a:t>
            </a:r>
            <a:r>
              <a:rPr lang="en-US" sz="4720">
                <a:solidFill>
                  <a:srgbClr val="000000"/>
                </a:solidFill>
                <a:latin typeface="Lora"/>
                <a:ea typeface="Lora"/>
                <a:cs typeface="Lora"/>
                <a:sym typeface="Lora"/>
              </a:rPr>
              <a:t> Python</a:t>
            </a:r>
          </a:p>
          <a:p>
            <a:pPr algn="l">
              <a:lnSpc>
                <a:spcPts val="6608"/>
              </a:lnSpc>
            </a:pPr>
          </a:p>
          <a:p>
            <a:pPr algn="l">
              <a:lnSpc>
                <a:spcPts val="6608"/>
              </a:lnSpc>
            </a:pPr>
            <a:r>
              <a:rPr lang="en-US" sz="4720">
                <a:solidFill>
                  <a:srgbClr val="000000"/>
                </a:solidFill>
                <a:latin typeface="Lora"/>
                <a:ea typeface="Lora"/>
                <a:cs typeface="Lora"/>
                <a:sym typeface="Lora"/>
              </a:rPr>
              <a:t>2] </a:t>
            </a:r>
            <a:r>
              <a:rPr lang="en-US" sz="4720" b="true">
                <a:solidFill>
                  <a:srgbClr val="000000"/>
                </a:solidFill>
                <a:latin typeface="Lora Bold"/>
                <a:ea typeface="Lora Bold"/>
                <a:cs typeface="Lora Bold"/>
                <a:sym typeface="Lora Bold"/>
              </a:rPr>
              <a:t>Backend Framework:</a:t>
            </a:r>
            <a:r>
              <a:rPr lang="en-US" sz="4720">
                <a:solidFill>
                  <a:srgbClr val="000000"/>
                </a:solidFill>
                <a:latin typeface="Lora"/>
                <a:ea typeface="Lora"/>
                <a:cs typeface="Lora"/>
                <a:sym typeface="Lora"/>
              </a:rPr>
              <a:t> Flask</a:t>
            </a:r>
          </a:p>
          <a:p>
            <a:pPr algn="l">
              <a:lnSpc>
                <a:spcPts val="6608"/>
              </a:lnSpc>
            </a:pPr>
          </a:p>
          <a:p>
            <a:pPr algn="l">
              <a:lnSpc>
                <a:spcPts val="6608"/>
              </a:lnSpc>
            </a:pPr>
            <a:r>
              <a:rPr lang="en-US" sz="4720">
                <a:solidFill>
                  <a:srgbClr val="000000"/>
                </a:solidFill>
                <a:latin typeface="Lora"/>
                <a:ea typeface="Lora"/>
                <a:cs typeface="Lora"/>
                <a:sym typeface="Lora"/>
              </a:rPr>
              <a:t>3] </a:t>
            </a:r>
            <a:r>
              <a:rPr lang="en-US" sz="4720" b="true">
                <a:solidFill>
                  <a:srgbClr val="000000"/>
                </a:solidFill>
                <a:latin typeface="Lora Bold"/>
                <a:ea typeface="Lora Bold"/>
                <a:cs typeface="Lora Bold"/>
                <a:sym typeface="Lora Bold"/>
              </a:rPr>
              <a:t>Algorithm:</a:t>
            </a:r>
            <a:r>
              <a:rPr lang="en-US" sz="4720">
                <a:solidFill>
                  <a:srgbClr val="000000"/>
                </a:solidFill>
                <a:latin typeface="Lora"/>
                <a:ea typeface="Lora"/>
                <a:cs typeface="Lora"/>
                <a:sym typeface="Lora"/>
              </a:rPr>
              <a:t> Genetic Algorithm</a:t>
            </a:r>
          </a:p>
          <a:p>
            <a:pPr algn="l">
              <a:lnSpc>
                <a:spcPts val="6608"/>
              </a:lnSpc>
            </a:pPr>
            <a:r>
              <a:rPr lang="en-US" sz="4720">
                <a:solidFill>
                  <a:srgbClr val="000000"/>
                </a:solidFill>
                <a:latin typeface="Lora"/>
                <a:ea typeface="Lora"/>
                <a:cs typeface="Lora"/>
                <a:sym typeface="Lora"/>
              </a:rPr>
              <a:t>                         Long Short Term Memory</a:t>
            </a:r>
          </a:p>
          <a:p>
            <a:pPr algn="l">
              <a:lnSpc>
                <a:spcPts val="6608"/>
              </a:lnSpc>
            </a:pPr>
          </a:p>
          <a:p>
            <a:pPr algn="l">
              <a:lnSpc>
                <a:spcPts val="6608"/>
              </a:lnSpc>
              <a:spcBef>
                <a:spcPct val="0"/>
              </a:spcBef>
            </a:pPr>
            <a:r>
              <a:rPr lang="en-US" sz="4720">
                <a:solidFill>
                  <a:srgbClr val="000000"/>
                </a:solidFill>
                <a:latin typeface="Lora"/>
                <a:ea typeface="Lora"/>
                <a:cs typeface="Lora"/>
                <a:sym typeface="Lora"/>
              </a:rPr>
              <a:t>4] </a:t>
            </a:r>
            <a:r>
              <a:rPr lang="en-US" b="true" sz="4720">
                <a:solidFill>
                  <a:srgbClr val="000000"/>
                </a:solidFill>
                <a:latin typeface="Lora Bold"/>
                <a:ea typeface="Lora Bold"/>
                <a:cs typeface="Lora Bold"/>
                <a:sym typeface="Lora Bold"/>
              </a:rPr>
              <a:t>Model:</a:t>
            </a:r>
            <a:r>
              <a:rPr lang="en-US" sz="4720">
                <a:solidFill>
                  <a:srgbClr val="000000"/>
                </a:solidFill>
                <a:latin typeface="Lora"/>
                <a:ea typeface="Lora"/>
                <a:cs typeface="Lora"/>
                <a:sym typeface="Lora"/>
              </a:rPr>
              <a:t> FinBERT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877281" y="0"/>
            <a:ext cx="3088591" cy="10287000"/>
            <a:chOff x="0" y="0"/>
            <a:chExt cx="813456" cy="2709333"/>
          </a:xfrm>
        </p:grpSpPr>
        <p:sp>
          <p:nvSpPr>
            <p:cNvPr name="Freeform 3" id="3"/>
            <p:cNvSpPr/>
            <p:nvPr/>
          </p:nvSpPr>
          <p:spPr>
            <a:xfrm flipH="false" flipV="false" rot="0">
              <a:off x="0" y="0"/>
              <a:ext cx="813456" cy="2709333"/>
            </a:xfrm>
            <a:custGeom>
              <a:avLst/>
              <a:gdLst/>
              <a:ahLst/>
              <a:cxnLst/>
              <a:rect r="r" b="b" t="t" l="l"/>
              <a:pathLst>
                <a:path h="2709333" w="813456">
                  <a:moveTo>
                    <a:pt x="0" y="0"/>
                  </a:moveTo>
                  <a:lnTo>
                    <a:pt x="813456" y="0"/>
                  </a:lnTo>
                  <a:lnTo>
                    <a:pt x="813456" y="2709333"/>
                  </a:lnTo>
                  <a:lnTo>
                    <a:pt x="0" y="2709333"/>
                  </a:lnTo>
                  <a:close/>
                </a:path>
              </a:pathLst>
            </a:custGeom>
            <a:solidFill>
              <a:srgbClr val="DFD3CA"/>
            </a:solidFill>
            <a:ln cap="sq">
              <a:noFill/>
              <a:prstDash val="solid"/>
              <a:miter/>
            </a:ln>
          </p:spPr>
        </p:sp>
        <p:sp>
          <p:nvSpPr>
            <p:cNvPr name="TextBox 4" id="4"/>
            <p:cNvSpPr txBox="true"/>
            <p:nvPr/>
          </p:nvSpPr>
          <p:spPr>
            <a:xfrm>
              <a:off x="0" y="-28575"/>
              <a:ext cx="813456" cy="2737908"/>
            </a:xfrm>
            <a:prstGeom prst="rect">
              <a:avLst/>
            </a:prstGeom>
          </p:spPr>
          <p:txBody>
            <a:bodyPr anchor="ctr" rtlCol="false" tIns="50800" lIns="50800" bIns="50800" rIns="50800"/>
            <a:lstStyle/>
            <a:p>
              <a:pPr algn="ctr">
                <a:lnSpc>
                  <a:spcPts val="2852"/>
                </a:lnSpc>
              </a:pPr>
            </a:p>
          </p:txBody>
        </p:sp>
      </p:grpSp>
      <p:sp>
        <p:nvSpPr>
          <p:cNvPr name="Freeform 5" id="5"/>
          <p:cNvSpPr/>
          <p:nvPr/>
        </p:nvSpPr>
        <p:spPr>
          <a:xfrm flipH="false" flipV="false" rot="0">
            <a:off x="16706625" y="-4304799"/>
            <a:ext cx="7450509" cy="7450509"/>
          </a:xfrm>
          <a:custGeom>
            <a:avLst/>
            <a:gdLst/>
            <a:ahLst/>
            <a:cxnLst/>
            <a:rect r="r" b="b" t="t" l="l"/>
            <a:pathLst>
              <a:path h="7450509" w="7450509">
                <a:moveTo>
                  <a:pt x="0" y="0"/>
                </a:moveTo>
                <a:lnTo>
                  <a:pt x="7450509" y="0"/>
                </a:lnTo>
                <a:lnTo>
                  <a:pt x="7450509"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183529" y="942975"/>
            <a:ext cx="2679204" cy="811078"/>
          </a:xfrm>
          <a:prstGeom prst="rect">
            <a:avLst/>
          </a:prstGeom>
        </p:spPr>
        <p:txBody>
          <a:bodyPr anchor="t" rtlCol="false" tIns="0" lIns="0" bIns="0" rIns="0">
            <a:spAutoFit/>
          </a:bodyPr>
          <a:lstStyle/>
          <a:p>
            <a:pPr algn="ctr">
              <a:lnSpc>
                <a:spcPts val="6744"/>
              </a:lnSpc>
              <a:spcBef>
                <a:spcPct val="0"/>
              </a:spcBef>
            </a:pPr>
            <a:r>
              <a:rPr lang="en-US" b="true" sz="4817">
                <a:solidFill>
                  <a:srgbClr val="000000"/>
                </a:solidFill>
                <a:latin typeface="Lora Bold"/>
                <a:ea typeface="Lora Bold"/>
                <a:cs typeface="Lora Bold"/>
                <a:sym typeface="Lora Bold"/>
              </a:rPr>
              <a:t>Datasets:</a:t>
            </a:r>
          </a:p>
        </p:txBody>
      </p:sp>
      <p:sp>
        <p:nvSpPr>
          <p:cNvPr name="TextBox 7" id="7"/>
          <p:cNvSpPr txBox="true"/>
          <p:nvPr/>
        </p:nvSpPr>
        <p:spPr>
          <a:xfrm rot="0">
            <a:off x="2211310" y="2532197"/>
            <a:ext cx="15173107" cy="6726103"/>
          </a:xfrm>
          <a:prstGeom prst="rect">
            <a:avLst/>
          </a:prstGeom>
        </p:spPr>
        <p:txBody>
          <a:bodyPr anchor="t" rtlCol="false" tIns="0" lIns="0" bIns="0" rIns="0">
            <a:spAutoFit/>
          </a:bodyPr>
          <a:lstStyle/>
          <a:p>
            <a:pPr algn="l">
              <a:lnSpc>
                <a:spcPts val="6744"/>
              </a:lnSpc>
            </a:pPr>
            <a:r>
              <a:rPr lang="en-US" sz="4817">
                <a:solidFill>
                  <a:srgbClr val="000000"/>
                </a:solidFill>
                <a:latin typeface="Lora"/>
                <a:ea typeface="Lora"/>
                <a:cs typeface="Lora"/>
                <a:sym typeface="Lora"/>
              </a:rPr>
              <a:t>1] </a:t>
            </a:r>
            <a:r>
              <a:rPr lang="en-US" sz="4817" b="true">
                <a:solidFill>
                  <a:srgbClr val="000000"/>
                </a:solidFill>
                <a:latin typeface="Lora Bold"/>
                <a:ea typeface="Lora Bold"/>
                <a:cs typeface="Lora Bold"/>
                <a:sym typeface="Lora Bold"/>
              </a:rPr>
              <a:t>Yahoo! Finance /YFinance:</a:t>
            </a:r>
            <a:r>
              <a:rPr lang="en-US" sz="4817">
                <a:solidFill>
                  <a:srgbClr val="000000"/>
                </a:solidFill>
                <a:latin typeface="Lora"/>
                <a:ea typeface="Lora"/>
                <a:cs typeface="Lora"/>
                <a:sym typeface="Lora"/>
              </a:rPr>
              <a:t> Historical market data via Python library</a:t>
            </a:r>
          </a:p>
          <a:p>
            <a:pPr algn="l">
              <a:lnSpc>
                <a:spcPts val="6744"/>
              </a:lnSpc>
            </a:pPr>
          </a:p>
          <a:p>
            <a:pPr algn="l">
              <a:lnSpc>
                <a:spcPts val="6604"/>
              </a:lnSpc>
            </a:pPr>
            <a:r>
              <a:rPr lang="en-US" sz="4717">
                <a:solidFill>
                  <a:srgbClr val="000000"/>
                </a:solidFill>
                <a:latin typeface="Lora"/>
                <a:ea typeface="Lora"/>
                <a:cs typeface="Lora"/>
                <a:sym typeface="Lora"/>
              </a:rPr>
              <a:t>2]</a:t>
            </a:r>
            <a:r>
              <a:rPr lang="en-US" sz="4717" b="true">
                <a:solidFill>
                  <a:srgbClr val="000000"/>
                </a:solidFill>
                <a:latin typeface="Lora Bold"/>
                <a:ea typeface="Lora Bold"/>
                <a:cs typeface="Lora Bold"/>
                <a:sym typeface="Lora Bold"/>
              </a:rPr>
              <a:t>Loughran–McDonald Financial Sentiment Word Lists</a:t>
            </a:r>
          </a:p>
          <a:p>
            <a:pPr algn="l">
              <a:lnSpc>
                <a:spcPts val="6744"/>
              </a:lnSpc>
            </a:pPr>
          </a:p>
          <a:p>
            <a:pPr algn="l">
              <a:lnSpc>
                <a:spcPts val="6744"/>
              </a:lnSpc>
              <a:spcBef>
                <a:spcPct val="0"/>
              </a:spcBef>
            </a:pPr>
            <a:r>
              <a:rPr lang="en-US" sz="4817">
                <a:solidFill>
                  <a:srgbClr val="000000"/>
                </a:solidFill>
                <a:latin typeface="Lora"/>
                <a:ea typeface="Lora"/>
                <a:cs typeface="Lora"/>
                <a:sym typeface="Lora"/>
              </a:rPr>
              <a:t>3] </a:t>
            </a:r>
            <a:r>
              <a:rPr lang="en-US" b="true" sz="4817">
                <a:solidFill>
                  <a:srgbClr val="000000"/>
                </a:solidFill>
                <a:latin typeface="Lora Bold"/>
                <a:ea typeface="Lora Bold"/>
                <a:cs typeface="Lora Bold"/>
                <a:sym typeface="Lora Bold"/>
              </a:rPr>
              <a:t>FinnHub:</a:t>
            </a:r>
            <a:r>
              <a:rPr lang="en-US" sz="4817">
                <a:solidFill>
                  <a:srgbClr val="000000"/>
                </a:solidFill>
                <a:latin typeface="Lora"/>
                <a:ea typeface="Lora"/>
                <a:cs typeface="Lora"/>
                <a:sym typeface="Lora"/>
              </a:rPr>
              <a:t> Financial data API for real time market news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FD3CA"/>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4014292" cy="792696"/>
          </a:xfrm>
          <a:prstGeom prst="rect">
            <a:avLst/>
          </a:prstGeom>
        </p:spPr>
        <p:txBody>
          <a:bodyPr anchor="t" rtlCol="false" tIns="0" lIns="0" bIns="0" rIns="0">
            <a:spAutoFit/>
          </a:bodyPr>
          <a:lstStyle/>
          <a:p>
            <a:pPr algn="ctr">
              <a:lnSpc>
                <a:spcPts val="6416"/>
              </a:lnSpc>
              <a:spcBef>
                <a:spcPct val="0"/>
              </a:spcBef>
            </a:pPr>
            <a:r>
              <a:rPr lang="en-US" b="true" sz="4860" spc="422">
                <a:solidFill>
                  <a:srgbClr val="000000"/>
                </a:solidFill>
                <a:latin typeface="Lora Bold"/>
                <a:ea typeface="Lora Bold"/>
                <a:cs typeface="Lora Bold"/>
                <a:sym typeface="Lora Bold"/>
              </a:rPr>
              <a:t>References:</a:t>
            </a:r>
          </a:p>
        </p:txBody>
      </p:sp>
      <p:sp>
        <p:nvSpPr>
          <p:cNvPr name="TextBox 3" id="3"/>
          <p:cNvSpPr txBox="true"/>
          <p:nvPr/>
        </p:nvSpPr>
        <p:spPr>
          <a:xfrm rot="0">
            <a:off x="9139238" y="4742724"/>
            <a:ext cx="9525" cy="339725"/>
          </a:xfrm>
          <a:prstGeom prst="rect">
            <a:avLst/>
          </a:prstGeom>
        </p:spPr>
        <p:txBody>
          <a:bodyPr anchor="t" rtlCol="false" tIns="0" lIns="0" bIns="0" rIns="0">
            <a:spAutoFit/>
          </a:bodyPr>
          <a:lstStyle/>
          <a:p>
            <a:pPr algn="ctr">
              <a:lnSpc>
                <a:spcPts val="2800"/>
              </a:lnSpc>
              <a:spcBef>
                <a:spcPct val="0"/>
              </a:spcBef>
            </a:pPr>
          </a:p>
        </p:txBody>
      </p:sp>
      <p:sp>
        <p:nvSpPr>
          <p:cNvPr name="TextBox 4" id="4"/>
          <p:cNvSpPr txBox="true"/>
          <p:nvPr/>
        </p:nvSpPr>
        <p:spPr>
          <a:xfrm rot="0">
            <a:off x="1028700" y="2370271"/>
            <a:ext cx="16230600" cy="6611620"/>
          </a:xfrm>
          <a:prstGeom prst="rect">
            <a:avLst/>
          </a:prstGeom>
        </p:spPr>
        <p:txBody>
          <a:bodyPr anchor="t" rtlCol="false" tIns="0" lIns="0" bIns="0" rIns="0">
            <a:spAutoFit/>
          </a:bodyPr>
          <a:lstStyle/>
          <a:p>
            <a:pPr algn="l">
              <a:lnSpc>
                <a:spcPts val="3079"/>
              </a:lnSpc>
            </a:pPr>
            <a:r>
              <a:rPr lang="en-US" sz="2199" b="true">
                <a:solidFill>
                  <a:srgbClr val="000000"/>
                </a:solidFill>
                <a:latin typeface="Lora Bold"/>
                <a:ea typeface="Lora Bold"/>
                <a:cs typeface="Lora Bold"/>
                <a:sym typeface="Lora Bold"/>
              </a:rPr>
              <a:t>[1] Yunus Emre GÜR (2024) </a:t>
            </a:r>
            <a:r>
              <a:rPr lang="en-US" sz="2199">
                <a:solidFill>
                  <a:srgbClr val="000000"/>
                </a:solidFill>
                <a:latin typeface="Lora"/>
                <a:ea typeface="Lora"/>
                <a:cs typeface="Lora"/>
                <a:sym typeface="Lora"/>
              </a:rPr>
              <a:t>Comparative Analysis of Deep Learning Models for Silver Price Prediction: CNN, LSTM, GRU and Hybrid Approach</a:t>
            </a:r>
          </a:p>
          <a:p>
            <a:pPr algn="l">
              <a:lnSpc>
                <a:spcPts val="3079"/>
              </a:lnSpc>
            </a:pPr>
            <a:r>
              <a:rPr lang="en-US" sz="2199" u="sng">
                <a:solidFill>
                  <a:srgbClr val="000000"/>
                </a:solidFill>
                <a:latin typeface="Lora"/>
                <a:ea typeface="Lora"/>
                <a:cs typeface="Lora"/>
                <a:sym typeface="Lora"/>
              </a:rPr>
              <a:t>https://doi.org/10.25294/auiibfd.1404173</a:t>
            </a:r>
          </a:p>
          <a:p>
            <a:pPr algn="l">
              <a:lnSpc>
                <a:spcPts val="3079"/>
              </a:lnSpc>
            </a:pPr>
          </a:p>
          <a:p>
            <a:pPr algn="l">
              <a:lnSpc>
                <a:spcPts val="3079"/>
              </a:lnSpc>
            </a:pPr>
            <a:r>
              <a:rPr lang="en-US" sz="2199" b="true">
                <a:solidFill>
                  <a:srgbClr val="000000"/>
                </a:solidFill>
                <a:latin typeface="Lora Bold"/>
                <a:ea typeface="Lora Bold"/>
                <a:cs typeface="Lora Bold"/>
                <a:sym typeface="Lora Bold"/>
              </a:rPr>
              <a:t>[2]</a:t>
            </a:r>
            <a:r>
              <a:rPr lang="en-US" sz="2199">
                <a:solidFill>
                  <a:srgbClr val="000000"/>
                </a:solidFill>
                <a:latin typeface="Lora"/>
                <a:ea typeface="Lora"/>
                <a:cs typeface="Lora"/>
                <a:sym typeface="Lora"/>
              </a:rPr>
              <a:t> </a:t>
            </a:r>
            <a:r>
              <a:rPr lang="en-US" sz="2199" b="true">
                <a:solidFill>
                  <a:srgbClr val="000000"/>
                </a:solidFill>
                <a:latin typeface="Lora Bold"/>
                <a:ea typeface="Lora Bold"/>
                <a:cs typeface="Lora Bold"/>
                <a:sym typeface="Lora Bold"/>
                <a:hlinkClick r:id="rId2" tooltip="https://arxiv.org/search/cs?searchtype=author&amp;query=Gu,+W"/>
              </a:rPr>
              <a:t>Wenjun Gu</a:t>
            </a:r>
            <a:r>
              <a:rPr lang="en-US" sz="2199" b="true">
                <a:solidFill>
                  <a:srgbClr val="000000"/>
                </a:solidFill>
                <a:latin typeface="Lora Bold"/>
                <a:ea typeface="Lora Bold"/>
                <a:cs typeface="Lora Bold"/>
                <a:sym typeface="Lora Bold"/>
              </a:rPr>
              <a:t>, </a:t>
            </a:r>
            <a:r>
              <a:rPr lang="en-US" sz="2199" b="true">
                <a:solidFill>
                  <a:srgbClr val="000000"/>
                </a:solidFill>
                <a:latin typeface="Lora Bold"/>
                <a:ea typeface="Lora Bold"/>
                <a:cs typeface="Lora Bold"/>
                <a:sym typeface="Lora Bold"/>
                <a:hlinkClick r:id="rId3" tooltip="https://arxiv.org/search/cs?searchtype=author&amp;query=Zhong,+Y"/>
              </a:rPr>
              <a:t>Yihao Zhong</a:t>
            </a:r>
            <a:r>
              <a:rPr lang="en-US" sz="2199" b="true">
                <a:solidFill>
                  <a:srgbClr val="000000"/>
                </a:solidFill>
                <a:latin typeface="Lora Bold"/>
                <a:ea typeface="Lora Bold"/>
                <a:cs typeface="Lora Bold"/>
                <a:sym typeface="Lora Bold"/>
              </a:rPr>
              <a:t>, </a:t>
            </a:r>
            <a:r>
              <a:rPr lang="en-US" sz="2199" b="true">
                <a:solidFill>
                  <a:srgbClr val="000000"/>
                </a:solidFill>
                <a:latin typeface="Lora Bold"/>
                <a:ea typeface="Lora Bold"/>
                <a:cs typeface="Lora Bold"/>
                <a:sym typeface="Lora Bold"/>
                <a:hlinkClick r:id="rId4" tooltip="https://arxiv.org/search/cs?searchtype=author&amp;query=Li,+S"/>
              </a:rPr>
              <a:t>Shizun Li</a:t>
            </a:r>
            <a:r>
              <a:rPr lang="en-US" sz="2199" b="true">
                <a:solidFill>
                  <a:srgbClr val="000000"/>
                </a:solidFill>
                <a:latin typeface="Lora Bold"/>
                <a:ea typeface="Lora Bold"/>
                <a:cs typeface="Lora Bold"/>
                <a:sym typeface="Lora Bold"/>
              </a:rPr>
              <a:t>, </a:t>
            </a:r>
            <a:r>
              <a:rPr lang="en-US" sz="2199" b="true">
                <a:solidFill>
                  <a:srgbClr val="000000"/>
                </a:solidFill>
                <a:latin typeface="Lora Bold"/>
                <a:ea typeface="Lora Bold"/>
                <a:cs typeface="Lora Bold"/>
                <a:sym typeface="Lora Bold"/>
                <a:hlinkClick r:id="rId5" tooltip="https://arxiv.org/search/cs?searchtype=author&amp;query=Wei,+C"/>
              </a:rPr>
              <a:t>Changsong Wei</a:t>
            </a:r>
            <a:r>
              <a:rPr lang="en-US" sz="2199" b="true">
                <a:solidFill>
                  <a:srgbClr val="000000"/>
                </a:solidFill>
                <a:latin typeface="Lora Bold"/>
                <a:ea typeface="Lora Bold"/>
                <a:cs typeface="Lora Bold"/>
                <a:sym typeface="Lora Bold"/>
              </a:rPr>
              <a:t>, </a:t>
            </a:r>
            <a:r>
              <a:rPr lang="en-US" sz="2199" b="true">
                <a:solidFill>
                  <a:srgbClr val="000000"/>
                </a:solidFill>
                <a:latin typeface="Lora Bold"/>
                <a:ea typeface="Lora Bold"/>
                <a:cs typeface="Lora Bold"/>
                <a:sym typeface="Lora Bold"/>
                <a:hlinkClick r:id="rId6" tooltip="https://arxiv.org/search/cs?searchtype=author&amp;query=Dong,+L"/>
              </a:rPr>
              <a:t>Liting Dong</a:t>
            </a:r>
            <a:r>
              <a:rPr lang="en-US" sz="2199" b="true">
                <a:solidFill>
                  <a:srgbClr val="000000"/>
                </a:solidFill>
                <a:latin typeface="Lora Bold"/>
                <a:ea typeface="Lora Bold"/>
                <a:cs typeface="Lora Bold"/>
                <a:sym typeface="Lora Bold"/>
              </a:rPr>
              <a:t>, </a:t>
            </a:r>
            <a:r>
              <a:rPr lang="en-US" sz="2199" b="true">
                <a:solidFill>
                  <a:srgbClr val="000000"/>
                </a:solidFill>
                <a:latin typeface="Lora Bold"/>
                <a:ea typeface="Lora Bold"/>
                <a:cs typeface="Lora Bold"/>
                <a:sym typeface="Lora Bold"/>
                <a:hlinkClick r:id="rId7" tooltip="https://arxiv.org/search/cs?searchtype=author&amp;query=Wang,+Z"/>
              </a:rPr>
              <a:t>Zhuoyue Wang</a:t>
            </a:r>
            <a:r>
              <a:rPr lang="en-US" sz="2199" b="true">
                <a:solidFill>
                  <a:srgbClr val="000000"/>
                </a:solidFill>
                <a:latin typeface="Lora Bold"/>
                <a:ea typeface="Lora Bold"/>
                <a:cs typeface="Lora Bold"/>
                <a:sym typeface="Lora Bold"/>
              </a:rPr>
              <a:t>, </a:t>
            </a:r>
            <a:r>
              <a:rPr lang="en-US" sz="2199" b="true">
                <a:solidFill>
                  <a:srgbClr val="000000"/>
                </a:solidFill>
                <a:latin typeface="Lora Bold"/>
                <a:ea typeface="Lora Bold"/>
                <a:cs typeface="Lora Bold"/>
                <a:sym typeface="Lora Bold"/>
                <a:hlinkClick r:id="rId8" tooltip="https://arxiv.org/search/cs?searchtype=author&amp;query=Yan,+C"/>
              </a:rPr>
              <a:t>Chao Yan </a:t>
            </a:r>
            <a:r>
              <a:rPr lang="en-US" sz="2199" b="true">
                <a:solidFill>
                  <a:srgbClr val="000000"/>
                </a:solidFill>
                <a:latin typeface="Lora Bold"/>
                <a:ea typeface="Lora Bold"/>
                <a:cs typeface="Lora Bold"/>
                <a:sym typeface="Lora Bold"/>
              </a:rPr>
              <a:t>(2024) </a:t>
            </a:r>
            <a:r>
              <a:rPr lang="en-US" sz="2199">
                <a:solidFill>
                  <a:srgbClr val="000000"/>
                </a:solidFill>
                <a:latin typeface="Lora"/>
                <a:ea typeface="Lora"/>
                <a:cs typeface="Lora"/>
                <a:sym typeface="Lora"/>
              </a:rPr>
              <a:t>Predicting Stock Prices with FinBERT-LSTM: Integrating News Sentiment Analysis</a:t>
            </a:r>
          </a:p>
          <a:p>
            <a:pPr algn="l">
              <a:lnSpc>
                <a:spcPts val="3079"/>
              </a:lnSpc>
            </a:pPr>
            <a:r>
              <a:rPr lang="en-US" sz="2199" u="sng">
                <a:solidFill>
                  <a:srgbClr val="000000"/>
                </a:solidFill>
                <a:latin typeface="Lora"/>
                <a:ea typeface="Lora"/>
                <a:cs typeface="Lora"/>
                <a:sym typeface="Lora"/>
                <a:hlinkClick r:id="rId9" tooltip="https://doi.org/10.48550/arXiv.2407.16150"/>
              </a:rPr>
              <a:t>https://doi.org/10.48550/arXiv.2407.16150</a:t>
            </a:r>
          </a:p>
          <a:p>
            <a:pPr algn="l">
              <a:lnSpc>
                <a:spcPts val="3079"/>
              </a:lnSpc>
            </a:pPr>
          </a:p>
          <a:p>
            <a:pPr algn="l">
              <a:lnSpc>
                <a:spcPts val="3079"/>
              </a:lnSpc>
            </a:pPr>
            <a:r>
              <a:rPr lang="en-US" sz="2199" b="true">
                <a:solidFill>
                  <a:srgbClr val="000000"/>
                </a:solidFill>
                <a:latin typeface="Lora Bold"/>
                <a:ea typeface="Lora Bold"/>
                <a:cs typeface="Lora Bold"/>
                <a:sym typeface="Lora Bold"/>
              </a:rPr>
              <a:t>[3] </a:t>
            </a:r>
            <a:r>
              <a:rPr lang="en-US" sz="2199" b="true">
                <a:solidFill>
                  <a:srgbClr val="000000"/>
                </a:solidFill>
                <a:latin typeface="Lora Bold"/>
                <a:ea typeface="Lora Bold"/>
                <a:cs typeface="Lora Bold"/>
                <a:sym typeface="Lora Bold"/>
                <a:hlinkClick r:id="rId10" tooltip="https://arxiv.org/search/q-fin?searchtype=author&amp;query=Mohammadjafari,+A"/>
              </a:rPr>
              <a:t>Ali Mohammadjafari</a:t>
            </a:r>
            <a:r>
              <a:rPr lang="en-US" sz="2199">
                <a:solidFill>
                  <a:srgbClr val="000000"/>
                </a:solidFill>
                <a:latin typeface="Lora"/>
                <a:ea typeface="Lora"/>
                <a:cs typeface="Lora"/>
                <a:sym typeface="Lora"/>
              </a:rPr>
              <a:t> </a:t>
            </a:r>
            <a:r>
              <a:rPr lang="en-US" sz="2199" b="true">
                <a:solidFill>
                  <a:srgbClr val="000000"/>
                </a:solidFill>
                <a:latin typeface="Lora Bold"/>
                <a:ea typeface="Lora Bold"/>
                <a:cs typeface="Lora Bold"/>
                <a:sym typeface="Lora Bold"/>
              </a:rPr>
              <a:t>(2024)</a:t>
            </a:r>
            <a:r>
              <a:rPr lang="en-US" sz="2199">
                <a:solidFill>
                  <a:srgbClr val="000000"/>
                </a:solidFill>
                <a:latin typeface="Lora"/>
                <a:ea typeface="Lora"/>
                <a:cs typeface="Lora"/>
                <a:sym typeface="Lora"/>
              </a:rPr>
              <a:t> Comparative Study of Bitcoin Price Prediction</a:t>
            </a:r>
          </a:p>
          <a:p>
            <a:pPr algn="l">
              <a:lnSpc>
                <a:spcPts val="3079"/>
              </a:lnSpc>
            </a:pPr>
            <a:r>
              <a:rPr lang="en-US" sz="2199" u="sng">
                <a:solidFill>
                  <a:srgbClr val="000000"/>
                </a:solidFill>
                <a:latin typeface="Lora"/>
                <a:ea typeface="Lora"/>
                <a:cs typeface="Lora"/>
                <a:sym typeface="Lora"/>
                <a:hlinkClick r:id="rId11" tooltip="https://doi.org/10.48550/arXiv.2405.08089"/>
              </a:rPr>
              <a:t>https://doi.org/10.48550/arXiv.2405.08089</a:t>
            </a:r>
          </a:p>
          <a:p>
            <a:pPr algn="l">
              <a:lnSpc>
                <a:spcPts val="3079"/>
              </a:lnSpc>
            </a:pPr>
          </a:p>
          <a:p>
            <a:pPr algn="l">
              <a:lnSpc>
                <a:spcPts val="3079"/>
              </a:lnSpc>
            </a:pPr>
            <a:r>
              <a:rPr lang="en-US" sz="2199" b="true">
                <a:solidFill>
                  <a:srgbClr val="000000"/>
                </a:solidFill>
                <a:latin typeface="Lora Bold"/>
                <a:ea typeface="Lora Bold"/>
                <a:cs typeface="Lora Bold"/>
                <a:sym typeface="Lora Bold"/>
              </a:rPr>
              <a:t>[4] Zhuang Liu, Degen Huang, Kaiyu Huang, Zhuang Li, Jun Zhao (2021)</a:t>
            </a:r>
            <a:r>
              <a:rPr lang="en-US" sz="2199">
                <a:solidFill>
                  <a:srgbClr val="000000"/>
                </a:solidFill>
                <a:latin typeface="Lora"/>
                <a:ea typeface="Lora"/>
                <a:cs typeface="Lora"/>
                <a:sym typeface="Lora"/>
              </a:rPr>
              <a:t> FinBERT: A Pre-trained Financial Language Representation Model for Financial Text Mining</a:t>
            </a:r>
          </a:p>
          <a:p>
            <a:pPr algn="l">
              <a:lnSpc>
                <a:spcPts val="3079"/>
              </a:lnSpc>
            </a:pPr>
            <a:r>
              <a:rPr lang="en-US" sz="2199" u="sng">
                <a:solidFill>
                  <a:srgbClr val="000000"/>
                </a:solidFill>
                <a:latin typeface="Lora"/>
                <a:ea typeface="Lora"/>
                <a:cs typeface="Lora"/>
                <a:sym typeface="Lora"/>
              </a:rPr>
              <a:t>https://doi.org/10.24963/ijcai.2020/622</a:t>
            </a:r>
          </a:p>
          <a:p>
            <a:pPr algn="l">
              <a:lnSpc>
                <a:spcPts val="3079"/>
              </a:lnSpc>
            </a:pPr>
          </a:p>
          <a:p>
            <a:pPr algn="l">
              <a:lnSpc>
                <a:spcPts val="3079"/>
              </a:lnSpc>
            </a:pPr>
          </a:p>
          <a:p>
            <a:pPr algn="ctr">
              <a:lnSpc>
                <a:spcPts val="307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DAGyCVgoS3E</dc:identifier>
  <dcterms:modified xsi:type="dcterms:W3CDTF">2011-08-01T06:04:30Z</dcterms:modified>
  <cp:revision>1</cp:revision>
  <dc:title>MAJOR PROJECT PPT</dc:title>
</cp:coreProperties>
</file>